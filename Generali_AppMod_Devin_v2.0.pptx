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4" r:id="rId2"/>
    <p:sldId id="256" r:id="rId3"/>
    <p:sldId id="257" r:id="rId4"/>
    <p:sldId id="258" r:id="rId5"/>
    <p:sldId id="268" r:id="rId6"/>
    <p:sldId id="269" r:id="rId7"/>
    <p:sldId id="261" r:id="rId8"/>
    <p:sldId id="263" r:id="rId9"/>
    <p:sldId id="265" r:id="rId10"/>
    <p:sldId id="266" r:id="rId11"/>
    <p:sldId id="267" r:id="rId12"/>
    <p:sldId id="259" r:id="rId13"/>
    <p:sldId id="260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9595"/>
  </p:normalViewPr>
  <p:slideViewPr>
    <p:cSldViewPr snapToGrid="0" snapToObjects="1">
      <p:cViewPr varScale="1">
        <p:scale>
          <a:sx n="111" d="100"/>
          <a:sy n="111" d="100"/>
        </p:scale>
        <p:origin x="82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215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Arial"/>
              </a:rPr>
              <a:t>WHY GENERALI — 75 sec talk track.</a:t>
            </a:r>
          </a:p>
          <a:p>
            <a:r>
              <a:rPr sz="1100">
                <a:latin typeface="Arial"/>
              </a:rPr>
              <a:t>"This is the slide you asked me to build — the 'why Generali specifically' case.</a:t>
            </a:r>
          </a:p>
          <a:p>
            <a:r>
              <a:rPr sz="1100">
                <a:latin typeface="Arial"/>
              </a:rPr>
              <a:t>Six numbers, one sentence.</a:t>
            </a:r>
          </a:p>
          <a:p>
            <a:r>
              <a:rPr sz="1100">
                <a:latin typeface="Arial"/>
              </a:rPr>
              <a:t>€1.2–1.3 billion already earmarked for AI and tech. 71 million customers — scale is the multiplier on every productivity gain. 15 million policies targeted by the shared core platform. 150 GenAI-enabled developers already being hired. A 2.5–3 point cost/income improvement target that, frankly, is not achievable by conventional IT alone. And DORA — regulatory pressure that makes doing nothing the most expensive option.</a:t>
            </a:r>
          </a:p>
          <a:p>
            <a:r>
              <a:rPr sz="1100">
                <a:latin typeface="Arial"/>
              </a:rPr>
              <a:t>The one-sentence closer: Generali has already decided to spend, has already announced the target model, has already framed AI as the lever. What's missing is the execution engine — and Devin is purpose-built for exactly the kind of work on Generali's roadmap.</a:t>
            </a:r>
          </a:p>
          <a:p>
            <a:r>
              <a:rPr sz="1100">
                <a:latin typeface="Arial"/>
              </a:rPr>
              <a:t>This isn't us looking for a pilot customer. This is us looking for the best customer."</a:t>
            </a:r>
          </a:p>
          <a:p>
            <a:endParaRPr sz="1100">
              <a:latin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dirty="0">
                <a:latin typeface="Arial"/>
              </a:rPr>
              <a:t>COVER — 30 sec talk track.</a:t>
            </a:r>
          </a:p>
          <a:p>
            <a:r>
              <a:rPr sz="1100" dirty="0">
                <a:latin typeface="Arial"/>
              </a:rPr>
              <a:t>"Good morning. Today we'll show how Devin — Cognition AI's autonomous software engineer — can accelerate Generali's Lifetime Partner 27 modernization agenda. The ask at the end is simple: a 90-day lighthouse engagement on a real workload, with hard KPIs."</a:t>
            </a:r>
          </a:p>
          <a:p>
            <a:r>
              <a:rPr sz="1100" dirty="0">
                <a:latin typeface="Arial"/>
              </a:rPr>
              <a:t>Keep eye contact with the CIO on the red subtitle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Arial"/>
              </a:rPr>
              <a:t>AGENDA — 30 sec talk track.</a:t>
            </a:r>
          </a:p>
          <a:p>
            <a:r>
              <a:rPr sz="1100">
                <a:latin typeface="Arial"/>
              </a:rPr>
              <a:t>"Nine content sections. The flow is deliberately: strategy first, then pain, then solution, then proof, then ask. We'll keep roughly three minutes per section. Please hold detailed questions for the end so we can stay on time."</a:t>
            </a:r>
          </a:p>
          <a:p>
            <a:endParaRPr sz="1100">
              <a:latin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dirty="0">
                <a:latin typeface="Arial"/>
              </a:rPr>
              <a:t>VALUE PYRAMID — 60 sec talk track.</a:t>
            </a:r>
          </a:p>
          <a:p>
            <a:r>
              <a:rPr sz="1100" dirty="0">
                <a:latin typeface="Arial"/>
              </a:rPr>
              <a:t>"Four tiers. Read top-down.</a:t>
            </a:r>
          </a:p>
          <a:p>
            <a:r>
              <a:rPr sz="1100" dirty="0">
                <a:latin typeface="Arial"/>
              </a:rPr>
              <a:t>At the top, the vision — Lifetime Partner to 71 million customers.</a:t>
            </a:r>
          </a:p>
          <a:p>
            <a:r>
              <a:rPr sz="1100" dirty="0">
                <a:latin typeface="Arial"/>
              </a:rPr>
              <a:t>Then the mission: LP27 targets, the ones Generali has publicly committed to — 8–10% EPS CAGR, a 2.5–3.0 point cost-to-income improvement in insurance.</a:t>
            </a:r>
          </a:p>
          <a:p>
            <a:r>
              <a:rPr sz="1100" dirty="0">
                <a:latin typeface="Arial"/>
              </a:rPr>
              <a:t>The third tier is where IT meets the mission: Insurance in a Box, Generali Core Tech with 150 GenAI-enabled developers, the €1.2–1.3 billion AI and tech envelope. These are already announced.</a:t>
            </a:r>
          </a:p>
          <a:p>
            <a:r>
              <a:rPr sz="1100" dirty="0">
                <a:latin typeface="Arial"/>
              </a:rPr>
              <a:t>The bottom tier is the reality we need to grind through to deliver the three above: legacy cores, framework upgrades, security backlogs, DORA. That's the modernization agenda — and it's the layer Devin accelerates directly."</a:t>
            </a:r>
          </a:p>
          <a:p>
            <a:endParaRPr lang="en-US" sz="1100" dirty="0">
              <a:latin typeface="Arial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is the executive sponsor of application modernization within LP27 — Group CIO, COO, or a BU CEO? Who actually controls the budget?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are Generali Core Tech's top 3 priorities for the next 12 months — IIAB roll-out, AI, cost reduction, or compliance?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much of the €1.2–1.3 bn AI/tech envelope is already allocated to specific initiatives, and how much is still 'available for new initiatives'?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there an active AI/ML Center of Excellence? Who leads it? Does it have mandate over GenAI applied to engineering productivity?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sz="1100" dirty="0">
              <a:latin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596D3-E6DF-FA87-B5F7-D490F9C1A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F7BC9-37D3-AC84-BFBF-C0F0D50117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44C53-B235-D497-9DB1-1F03325D4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dirty="0">
                <a:latin typeface="Arial"/>
              </a:rPr>
              <a:t>STATUS QUO — 75 sec talk track.</a:t>
            </a:r>
          </a:p>
          <a:p>
            <a:r>
              <a:rPr sz="1100" dirty="0">
                <a:latin typeface="Arial"/>
              </a:rPr>
              <a:t>"Four numbers on top. Seventy percent of Fortune 500 code is 20+ years old. 60–80% of insurer IT spend is locked in 'run the bank' — every euro stuck there is a euro that cannot fund AI or customer experience. Half the EU financial sector missed DORA. And claims inflation on motor is up 46% — which means pricing accuracy matters more than ever, and pricing accuracy lives in core systems that need to change fast.</a:t>
            </a:r>
          </a:p>
          <a:p>
            <a:r>
              <a:rPr sz="1100" dirty="0">
                <a:latin typeface="Arial"/>
              </a:rPr>
              <a:t>On the cost side, the everyday tax of legacy: 4–6% annual inflation, months for a single framework upgrade, 30 minutes per security fix. To anchor Generali scale: Generali Deutschland alone runs a €300 million IT budget with 700 IT staff.</a:t>
            </a:r>
          </a:p>
          <a:p>
            <a:r>
              <a:rPr sz="1100" dirty="0">
                <a:latin typeface="Arial"/>
              </a:rPr>
              <a:t>On the risk side: DORA fines of 2% of global turnover — meaningful for a group your size — and a knowledge cliff as specialists retire. Do nothing and these numbers get worse, not better."</a:t>
            </a:r>
            <a:endParaRPr lang="en-US" sz="1100" dirty="0">
              <a:latin typeface="Arial"/>
            </a:endParaRPr>
          </a:p>
          <a:p>
            <a:endParaRPr lang="en-FR" sz="1100" dirty="0">
              <a:latin typeface="Arial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share of applications is 'legacy' (pre-2015, EOL frameworks)? 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many microservices on Java 8 or 11 are still in production? How many framework migrations are already in the pipeline but slowed by a lack of capacity?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you measure a vulnerability backlog (SonarQube, Veracode,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Snyk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)? How many open vulns today, and what is the average remediation time?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many internal developers does Generali employ Group-wide? What is the mix between internal, system integrator and nearshore?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are your strategic delivery partners (Accenture, Capgemini, Deloitte, Reply, NTT Data)? 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you already use GitHub Copilot, Cursor,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Codeium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other AI dev tools? What is the adoption rate? What is your feedback so far?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sz="1100" dirty="0">
              <a:latin typeface="Arial"/>
            </a:endParaRPr>
          </a:p>
          <a:p>
            <a:endParaRPr sz="1100" dirty="0">
              <a:latin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6977C-9314-8CD3-064A-75F36F41D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57365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DA3C5-2FC0-033C-8E7C-A238EF0DF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D24D4-F160-67D2-018B-3B23F68B07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4208B-A84F-8EE6-870E-53754EBC79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Arial"/>
              </a:rPr>
              <a:t>DEVIN — 60 sec talk track.</a:t>
            </a:r>
          </a:p>
          <a:p>
            <a:r>
              <a:rPr sz="1100">
                <a:latin typeface="Arial"/>
              </a:rPr>
              <a:t>"Devin is not a coding assistant. It's an autonomous engineer: you give it a task, it delivers a pull request, with the same steps a junior engineer would take — plan, code, test, fix, review, iterate.</a:t>
            </a:r>
          </a:p>
          <a:p>
            <a:r>
              <a:rPr sz="1100">
                <a:latin typeface="Arial"/>
              </a:rPr>
              <a:t>The operating mode is human-in-the-loop. Nothing runs without approval at the key fan-out points. SOC 2, zero-retention, VPC deployment — the enterprise guard-rails are in place.</a:t>
            </a:r>
          </a:p>
          <a:p>
            <a:r>
              <a:rPr sz="1100">
                <a:latin typeface="Arial"/>
              </a:rPr>
              <a:t>The scale point on the right is what matters for a CFO conversation. Over 100,000 merged production PRs. PR merge rate nearly doubled year-over-year. 4× faster, 2× more efficient. This isn't a 2024 demo — it's a 2026 production tool."</a:t>
            </a:r>
          </a:p>
          <a:p>
            <a:endParaRPr sz="1100">
              <a:latin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65116-88D8-FA3F-ADC1-5C0766B34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34620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Arial"/>
              </a:rPr>
              <a:t>USE CASE — 90 sec talk track.</a:t>
            </a:r>
          </a:p>
          <a:p>
            <a:r>
              <a:rPr sz="1100">
                <a:latin typeface="Arial"/>
              </a:rPr>
              <a:t>"This is the pattern we'll reuse across Generali's portfolio.</a:t>
            </a:r>
          </a:p>
          <a:p>
            <a:r>
              <a:rPr sz="1100">
                <a:latin typeface="Arial"/>
              </a:rPr>
              <a:t>A senior Devin acts as Tech Lead. It reads the repo, plans the upgrade, and fans out four specialist children — each one narrowly scoped: one edits only the pom and CI, one rewrites imports to Jakarta, one modernises Spring Security, one migrates tests to JUnit 5.</a:t>
            </a:r>
          </a:p>
          <a:p>
            <a:r>
              <a:rPr sz="1100">
                <a:latin typeface="Arial"/>
              </a:rPr>
              <a:t>They all work on the same integration branch in parallel. The Tech Lead fans them back in, runs Maven verify, opens a single PR. Human reviewer sees one coherent change, not four.</a:t>
            </a:r>
          </a:p>
          <a:p>
            <a:r>
              <a:rPr sz="1100">
                <a:latin typeface="Arial"/>
              </a:rPr>
              <a:t>A job that a single engineer would ship in weeks is done in hours of wall-clock time — and the pattern is repeatable across every microservice in the estate. If Generali has 500 Spring Boot services, we don't need 500 months of engineer-time. We need a playbook and a fleet of Devins."</a:t>
            </a:r>
          </a:p>
          <a:p>
            <a:r>
              <a:rPr sz="1100">
                <a:latin typeface="Arial"/>
              </a:rPr>
              <a:t>Presenter tip: if audience wants live proof, we have a 4:45 video walkthrough of this exact pattern on the old-but-gold repo.</a:t>
            </a:r>
          </a:p>
          <a:p>
            <a:endParaRPr sz="1100">
              <a:latin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dirty="0">
                <a:latin typeface="Arial"/>
              </a:rPr>
              <a:t>FSI REFERENCE — 75 sec talk track.</a:t>
            </a:r>
          </a:p>
          <a:p>
            <a:r>
              <a:rPr sz="1100" dirty="0">
                <a:latin typeface="Arial"/>
              </a:rPr>
              <a:t>"Three peers, three different angles.</a:t>
            </a:r>
          </a:p>
          <a:p>
            <a:r>
              <a:rPr sz="1100" dirty="0">
                <a:latin typeface="Arial"/>
              </a:rPr>
              <a:t>Goldman Sachs — Wall Street's biggest AI engineering bet. Marco Argenti, the CIO, went on record saying they'll scale from hundreds to thousands of Devins across their 10,000+ engineer </a:t>
            </a:r>
            <a:r>
              <a:rPr sz="1100" dirty="0" err="1">
                <a:latin typeface="Arial"/>
              </a:rPr>
              <a:t>organisation</a:t>
            </a:r>
            <a:r>
              <a:rPr sz="1100" dirty="0">
                <a:latin typeface="Arial"/>
              </a:rPr>
              <a:t>. That's the 'yes, it scales to our size' reference.</a:t>
            </a:r>
          </a:p>
          <a:p>
            <a:r>
              <a:rPr sz="1100" dirty="0" err="1">
                <a:latin typeface="Arial"/>
              </a:rPr>
              <a:t>Nubank</a:t>
            </a:r>
            <a:r>
              <a:rPr sz="1100" dirty="0">
                <a:latin typeface="Arial"/>
              </a:rPr>
              <a:t> — the operational story. 110 million customers, 6 million lines of legacy ETL code, an 18-month internal estimate done in two months with Devin. 8× efficiency, 20× cost. That's the 'yes, it delivers real migrations' reference.</a:t>
            </a:r>
          </a:p>
          <a:p>
            <a:r>
              <a:rPr sz="1100" dirty="0">
                <a:latin typeface="Arial"/>
              </a:rPr>
              <a:t>Santander — included by Cognition in their public customer list. It says: 'a European Tier-1 bank, like the ones you compete with, is already doing this.'</a:t>
            </a:r>
          </a:p>
          <a:p>
            <a:r>
              <a:rPr sz="1100" dirty="0">
                <a:latin typeface="Arial"/>
              </a:rPr>
              <a:t>For Generali the question isn't 'is this real?' anymore — Goldman, </a:t>
            </a:r>
            <a:r>
              <a:rPr sz="1100" dirty="0" err="1">
                <a:latin typeface="Arial"/>
              </a:rPr>
              <a:t>Nubank</a:t>
            </a:r>
            <a:r>
              <a:rPr sz="1100" dirty="0">
                <a:latin typeface="Arial"/>
              </a:rPr>
              <a:t> and Santander have answered that. The question is 'how do we apply it to our estate?'"</a:t>
            </a:r>
          </a:p>
          <a:p>
            <a:endParaRPr sz="1100" dirty="0">
              <a:latin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dirty="0">
                <a:latin typeface="Arial"/>
              </a:rPr>
              <a:t>ROADMAP — 45 sec talk track.</a:t>
            </a:r>
          </a:p>
          <a:p>
            <a:r>
              <a:rPr sz="1100" dirty="0">
                <a:latin typeface="Arial"/>
              </a:rPr>
              <a:t>"Three phases, two gates, twelve months.</a:t>
            </a:r>
          </a:p>
          <a:p>
            <a:r>
              <a:rPr sz="1100" dirty="0">
                <a:latin typeface="Arial"/>
              </a:rPr>
              <a:t>Phase 1 is the lighthouse — 90 days on a real Generali workload. Not a demo, not a POC deck: actual PRs merged on actual repos with hard KPIs agreed up front by Generali Core Tech.</a:t>
            </a:r>
          </a:p>
          <a:p>
            <a:r>
              <a:rPr sz="1100" dirty="0">
                <a:latin typeface="Arial"/>
              </a:rPr>
              <a:t>Phase 2 scales to a Business Unit or product domain — the first place we prove the pattern holds at country scale.</a:t>
            </a:r>
          </a:p>
          <a:p>
            <a:r>
              <a:rPr sz="1100" dirty="0">
                <a:latin typeface="Arial"/>
              </a:rPr>
              <a:t>Phase 3 </a:t>
            </a:r>
            <a:r>
              <a:rPr sz="1100" dirty="0" err="1">
                <a:latin typeface="Arial"/>
              </a:rPr>
              <a:t>industrialises</a:t>
            </a:r>
            <a:r>
              <a:rPr sz="1100" dirty="0">
                <a:latin typeface="Arial"/>
              </a:rPr>
              <a:t> inside Insurance in a Box and Generali Core Tech, so Devin becomes the default for modernization, vulnerabilities and test generation across the Group.</a:t>
            </a:r>
          </a:p>
          <a:p>
            <a:r>
              <a:rPr sz="1100" dirty="0">
                <a:latin typeface="Arial"/>
              </a:rPr>
              <a:t>Every gate is an off-ramp. That's the deal."</a:t>
            </a:r>
            <a:endParaRPr lang="en-US" sz="1100" dirty="0">
              <a:latin typeface="Arial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we did 'one thing' together over the next 12 months, what tangible outcome would let you say 'this was a success'? (A completed migration? A % of vulns closed? A FinOps initiative?)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engineering KPIs do you track today — DORA metrics (deployment frequency, lead time, MTTR, change fail rate), cost per PR, cycle time?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the ideal repo or domain to pilot this — low-risk, high-impact? Typical candidates: a mid-weight BU, a product in roll-out, batch jobs in modernization, or a security backlog on a non-mission-critical app.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sz="1100" dirty="0">
              <a:latin typeface="Arial"/>
            </a:endParaRPr>
          </a:p>
          <a:p>
            <a:endParaRPr sz="1100" dirty="0">
              <a:latin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dirty="0">
                <a:latin typeface="Arial"/>
              </a:rPr>
              <a:t>NEXT STEPS — 45 sec talk track.</a:t>
            </a:r>
          </a:p>
          <a:p>
            <a:r>
              <a:rPr sz="1100" dirty="0">
                <a:latin typeface="Arial"/>
              </a:rPr>
              <a:t>"Four asks, one decision.</a:t>
            </a:r>
          </a:p>
          <a:p>
            <a:r>
              <a:rPr sz="1100" dirty="0">
                <a:latin typeface="Arial"/>
              </a:rPr>
              <a:t>Ninety-day lighthouse. Two sponsors. Hard KPIs agreed on day one. Security track in parallel.</a:t>
            </a:r>
          </a:p>
          <a:p>
            <a:r>
              <a:rPr sz="1100" dirty="0">
                <a:latin typeface="Arial"/>
              </a:rPr>
              <a:t>We're not asking Generali to sign a group-wide contract on the back of a slide deck. We're asking for three months on a real workload, with a stop gate at the end.</a:t>
            </a:r>
          </a:p>
          <a:p>
            <a:r>
              <a:rPr sz="1100" dirty="0">
                <a:latin typeface="Arial"/>
              </a:rPr>
              <a:t>If the KPIs don't hold — we stop. If they do — we scale. That's the deal.</a:t>
            </a:r>
          </a:p>
          <a:p>
            <a:r>
              <a:rPr sz="1100" dirty="0">
                <a:latin typeface="Arial"/>
              </a:rPr>
              <a:t>Thank you. Happy to take questions."</a:t>
            </a:r>
            <a:endParaRPr lang="en-US" sz="1100" dirty="0"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is the ultimate signatory for a multi-year contract on an AI engineering platform?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sz="1100" dirty="0">
              <a:latin typeface="Arial"/>
            </a:endParaRPr>
          </a:p>
          <a:p>
            <a:endParaRPr sz="1100" dirty="0">
              <a:latin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Arial"/>
              </a:rPr>
              <a:t>CLOSING — short. Invite objections; don't oversell.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dirty="0">
                <a:latin typeface="Arial"/>
              </a:rPr>
              <a:t>STATUS QUO — 75 sec talk track.</a:t>
            </a:r>
          </a:p>
          <a:p>
            <a:r>
              <a:rPr sz="1100" dirty="0">
                <a:latin typeface="Arial"/>
              </a:rPr>
              <a:t>"Four numbers on top. Seventy percent of Fortune 500 code is 20+ years old. 60–80% of insurer IT spend is locked in 'run the bank' — every euro stuck there is a euro that cannot fund AI or customer experience. Half the EU financial sector missed DORA. And claims inflation on motor is up 46% — which means pricing accuracy matters more than ever, and pricing accuracy lives in core systems that need to change fast.</a:t>
            </a:r>
          </a:p>
          <a:p>
            <a:r>
              <a:rPr sz="1100" dirty="0">
                <a:latin typeface="Arial"/>
              </a:rPr>
              <a:t>On the cost side, the everyday tax of legacy: 4–6% annual inflation, months for a single framework upgrade, 30 minutes per security fix. To anchor Generali scale: Generali Deutschland alone runs a €300 million IT budget with 700 IT staff.</a:t>
            </a:r>
          </a:p>
          <a:p>
            <a:r>
              <a:rPr sz="1100" dirty="0">
                <a:latin typeface="Arial"/>
              </a:rPr>
              <a:t>On the risk side: DORA fines of 2% of global turnover — meaningful for a group your size — and a knowledge cliff as specialists retire. Do nothing and these numbers get worse, not better."</a:t>
            </a:r>
            <a:endParaRPr lang="en-US" sz="1100" dirty="0">
              <a:latin typeface="Arial"/>
            </a:endParaRPr>
          </a:p>
          <a:p>
            <a:endParaRPr lang="en-FR" sz="1100" dirty="0">
              <a:latin typeface="Arial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share of applications is 'legacy' (pre-2015, EOL frameworks)? 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many microservices on Java 8 or 11 are still in production? How many framework migrations are already in the pipeline but slowed by a lack of capacity?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you measure a vulnerability backlog (SonarQube, Veracode,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Snyk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)? How many open vulns today, and what is the average remediation time?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many internal developers does Generali employ Group-wide? What is the mix between internal, system integrator and nearshore?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are your strategic delivery partners (Accenture, Capgemini, Deloitte, Reply, NTT Data)? 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you already use GitHub Copilot, Cursor,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Codeium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other AI dev tools? What is the adoption rate? What is your feedback so far?</a:t>
            </a:r>
            <a:endParaRPr lang="en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sz="1100" dirty="0">
              <a:latin typeface="Arial"/>
            </a:endParaRPr>
          </a:p>
          <a:p>
            <a:endParaRPr sz="1100" dirty="0">
              <a:latin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07819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Arial"/>
              </a:rPr>
              <a:t>DEVIN — 60 sec talk track.</a:t>
            </a:r>
          </a:p>
          <a:p>
            <a:r>
              <a:rPr sz="1100">
                <a:latin typeface="Arial"/>
              </a:rPr>
              <a:t>"Devin is not a coding assistant. It's an autonomous engineer: you give it a task, it delivers a pull request, with the same steps a junior engineer would take — plan, code, test, fix, review, iterate.</a:t>
            </a:r>
          </a:p>
          <a:p>
            <a:r>
              <a:rPr sz="1100">
                <a:latin typeface="Arial"/>
              </a:rPr>
              <a:t>The operating mode is human-in-the-loop. Nothing runs without approval at the key fan-out points. SOC 2, zero-retention, VPC deployment — the enterprise guard-rails are in place.</a:t>
            </a:r>
          </a:p>
          <a:p>
            <a:r>
              <a:rPr sz="1100">
                <a:latin typeface="Arial"/>
              </a:rPr>
              <a:t>The scale point on the right is what matters for a CFO conversation. Over 100,000 merged production PRs. PR merge rate nearly doubled year-over-year. 4× faster, 2× more efficient. This isn't a 2024 demo — it's a 2026 production tool."</a:t>
            </a:r>
          </a:p>
          <a:p>
            <a:endParaRPr sz="1100">
              <a:latin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158468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 dirty="0">
                <a:latin typeface="Arial"/>
              </a:rPr>
              <a:t>BENEFITS — 75 sec talk track.</a:t>
            </a:r>
          </a:p>
          <a:p>
            <a:r>
              <a:rPr sz="1100" dirty="0">
                <a:latin typeface="Arial"/>
              </a:rPr>
              <a:t>"Six levers. Every row has a source; every number is from a customer or from Cognition's public performance review.</a:t>
            </a:r>
          </a:p>
          <a:p>
            <a:r>
              <a:rPr sz="1100" dirty="0">
                <a:latin typeface="Arial"/>
              </a:rPr>
              <a:t>The most quotable one is the </a:t>
            </a:r>
            <a:r>
              <a:rPr sz="1100" dirty="0" err="1">
                <a:latin typeface="Arial"/>
              </a:rPr>
              <a:t>Nubank</a:t>
            </a:r>
            <a:r>
              <a:rPr sz="1100" dirty="0">
                <a:latin typeface="Arial"/>
              </a:rPr>
              <a:t> case: an 8-year-old ETL monolith, 6 million lines of code, company-wide critical migration. The internal estimate was a year and a half; with Devin it was done in two months. 8× engineering efficiency, 20× cost savings.</a:t>
            </a:r>
          </a:p>
          <a:p>
            <a:r>
              <a:rPr sz="1100" dirty="0">
                <a:latin typeface="Arial"/>
              </a:rPr>
              <a:t>For Generali specifically, the most directly relevant levers are framework migrations — 10 to 14 times faster than human engineers — and security vulnerabilities, where the shift from 30 minutes per vuln to 90 seconds per vuln is a 20× unlock.</a:t>
            </a:r>
          </a:p>
          <a:p>
            <a:r>
              <a:rPr sz="1100" dirty="0">
                <a:latin typeface="Arial"/>
              </a:rPr>
              <a:t>The composite expectation at the bottom — 30–50% reduction in modernization hours — is deliberately a range. The lighthouse engagement we propose is how we turn that range into a Generali-specific number."</a:t>
            </a:r>
          </a:p>
          <a:p>
            <a:endParaRPr sz="1100" dirty="0">
              <a:latin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Arial"/>
              </a:rPr>
              <a:t>WHY GENERALI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228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GENERALI × DEVIN  | 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dirty="0">
                <a:solidFill>
                  <a:srgbClr val="666666"/>
                </a:solidFill>
                <a:latin typeface="Arial"/>
              </a:rPr>
              <a:t>1</a:t>
            </a:r>
            <a:r>
              <a:rPr sz="900" b="0" dirty="0">
                <a:solidFill>
                  <a:srgbClr val="666666"/>
                </a:solidFill>
                <a:latin typeface="Arial"/>
              </a:rPr>
              <a:t>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92240"/>
            <a:ext cx="11430000" cy="6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" cy="30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89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A1A1A"/>
                </a:solidFill>
                <a:latin typeface="Arial"/>
              </a:rPr>
              <a:t>Why Generali — A Perfect Target for AI-Led Modernization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9743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The fit is near-ideal. Strategy, scale and public commitments all align.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370332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91440" cy="146304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3337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dirty="0">
                <a:solidFill>
                  <a:srgbClr val="C5281C"/>
                </a:solidFill>
                <a:latin typeface="Arial"/>
              </a:rPr>
              <a:t>3</a:t>
            </a:r>
            <a:endParaRPr sz="2200" b="1" dirty="0">
              <a:solidFill>
                <a:srgbClr val="C5281C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560320"/>
            <a:ext cx="3337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The ranking of Generali as Insurance Group in Europe, after Allianz and AXA</a:t>
            </a:r>
            <a:endParaRPr sz="1100" b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24528" y="1828800"/>
            <a:ext cx="370332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24528" y="1828800"/>
            <a:ext cx="91440" cy="146304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53128" y="1993392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C5281C"/>
                </a:solidFill>
                <a:latin typeface="Arial"/>
              </a:rPr>
              <a:t>71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560320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Customers served — scale creates compounding ROI on every modernization lever.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1828800"/>
            <a:ext cx="370332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83296" y="1828800"/>
            <a:ext cx="91440" cy="146304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1896" y="1993392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C5281C"/>
                </a:solidFill>
                <a:latin typeface="Arial"/>
              </a:rPr>
              <a:t>~15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560320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Policies targeted by the 'Insurance in a Box' shared core platform.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47288"/>
            <a:ext cx="370332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447288"/>
            <a:ext cx="91440" cy="146304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61188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C5281C"/>
                </a:solidFill>
                <a:latin typeface="Arial"/>
              </a:rPr>
              <a:t>150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178808"/>
            <a:ext cx="333756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333333"/>
                </a:solidFill>
                <a:latin typeface="Arial"/>
              </a:rPr>
              <a:t>GenAI-enabled developers already being hired into Generali Core Tech.</a:t>
            </a:r>
            <a:r>
              <a:rPr lang="en-US" sz="1100" b="0" dirty="0">
                <a:solidFill>
                  <a:srgbClr val="333333"/>
                </a:solidFill>
                <a:latin typeface="Arial"/>
              </a:rPr>
              <a:t> More than </a:t>
            </a:r>
            <a:r>
              <a:rPr lang="en-US" sz="1100" dirty="0">
                <a:solidFill>
                  <a:srgbClr val="333333"/>
                </a:solidFill>
                <a:latin typeface="Arial"/>
              </a:rPr>
              <a:t>6</a:t>
            </a:r>
            <a:r>
              <a:rPr lang="en-US" sz="1100" b="0" dirty="0">
                <a:solidFill>
                  <a:srgbClr val="333333"/>
                </a:solidFill>
                <a:latin typeface="Arial"/>
              </a:rPr>
              <a:t>K SW Engineers cross the whole group.</a:t>
            </a:r>
            <a:endParaRPr sz="1100" b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24528" y="3447288"/>
            <a:ext cx="370332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24528" y="3447288"/>
            <a:ext cx="91440" cy="146304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53128" y="4178808"/>
            <a:ext cx="3337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1100" dirty="0">
                <a:solidFill>
                  <a:srgbClr val="333333"/>
                </a:solidFill>
                <a:latin typeface="Arial"/>
              </a:rPr>
              <a:t>Cumulative AI &amp; technology investment committed under LP27 (2025–27).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3447288"/>
            <a:ext cx="370332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83296" y="3447288"/>
            <a:ext cx="91440" cy="146304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11896" y="361188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C5281C"/>
                </a:solidFill>
                <a:latin typeface="Arial"/>
              </a:rPr>
              <a:t>DORA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4178808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Directly regulated EU Tier-1: compliance pressure is a tailwind, not a barrier.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74920"/>
            <a:ext cx="11475720" cy="128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5074920"/>
            <a:ext cx="109728" cy="128016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521208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5281C"/>
                </a:solidFill>
                <a:latin typeface="Arial"/>
              </a:rPr>
              <a:t>WHY NOW — THREE REASONS IN ONE SENTENCE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532120"/>
            <a:ext cx="11109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Generali has (1) already budgeted the spend, (2) already announced the target operating model (Core Tech + IIAB), and (3) already framed AI as a strategic lever in LP27 — the only missing piece is the execution engine, and that is exactly what Devin is.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379029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66666"/>
                </a:solidFill>
                <a:latin typeface="Arial"/>
              </a:rPr>
              <a:t>Sources — Generali LP27 press release, 30 Jan 2025 · Generali Core Tech / IIAB announcement via Insurance Business UK, Feb 2026 · Generali 2024 Annual Integrated Report · Deloitte DORA 2026.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374356-4CDE-1C55-8D94-93589B0FB092}"/>
              </a:ext>
            </a:extLst>
          </p:cNvPr>
          <p:cNvSpPr txBox="1"/>
          <p:nvPr/>
        </p:nvSpPr>
        <p:spPr>
          <a:xfrm>
            <a:off x="4434840" y="3630168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C5281C"/>
                </a:solidFill>
                <a:latin typeface="Arial"/>
              </a:rPr>
              <a:t>€1.2–1.3 bn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GENERALI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Group Technology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0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Arial"/>
              </a:rPr>
              <a:t>Fabio Pennacchio, GTM </a:t>
            </a:r>
            <a:r>
              <a:rPr sz="1400" b="1" dirty="0">
                <a:solidFill>
                  <a:srgbClr val="FFFFFF"/>
                </a:solidFill>
                <a:latin typeface="Arial"/>
              </a:rPr>
              <a:t>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828800"/>
            <a:ext cx="6766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Arial"/>
              </a:rPr>
              <a:t>Application Modernization,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560320"/>
            <a:ext cx="6766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C5281C"/>
                </a:solidFill>
                <a:latin typeface="Arial"/>
              </a:rPr>
              <a:t>at AI speed.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3566160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Arial"/>
              </a:rPr>
              <a:t>A Business Case for Devin-powered, multi-agent modernization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4937760"/>
            <a:ext cx="6400800" cy="12801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0" y="507492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Prepared for:  Generali Executive Committee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5349240"/>
            <a:ext cx="6217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333333"/>
                </a:solidFill>
                <a:latin typeface="Arial"/>
              </a:rPr>
              <a:t>Partner:  Cognition</a:t>
            </a:r>
            <a:r>
              <a:rPr lang="en-US" sz="11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100" b="0" dirty="0">
                <a:solidFill>
                  <a:srgbClr val="333333"/>
                </a:solidFill>
                <a:latin typeface="Arial"/>
              </a:rPr>
              <a:t>— creators of Devin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589788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5281C"/>
                </a:solidFill>
                <a:latin typeface="Arial"/>
              </a:rPr>
              <a:t>Decision requested:  Approve a 90-day lighthouse engagement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228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GENERALI × DEVIN  | 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dirty="0">
                <a:solidFill>
                  <a:srgbClr val="666666"/>
                </a:solidFill>
                <a:latin typeface="Arial"/>
              </a:rPr>
              <a:t>3</a:t>
            </a:r>
            <a:r>
              <a:rPr sz="900" b="0" dirty="0">
                <a:solidFill>
                  <a:srgbClr val="666666"/>
                </a:solidFill>
                <a:latin typeface="Arial"/>
              </a:rPr>
              <a:t>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92240"/>
            <a:ext cx="11430000" cy="6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" cy="30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Agenda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3749039" cy="12801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548640" cy="128016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457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1168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Strategic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77440"/>
            <a:ext cx="29260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LP27 value pyramid: where modernization sits.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7" y="1828800"/>
            <a:ext cx="3749039" cy="12801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70247" y="1828800"/>
            <a:ext cx="548640" cy="128016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61687" y="2103120"/>
            <a:ext cx="457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7" y="2011680"/>
            <a:ext cx="292607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A1A1A"/>
                </a:solidFill>
                <a:latin typeface="Arial"/>
              </a:rPr>
              <a:t>Status quo</a:t>
            </a:r>
            <a:r>
              <a:rPr lang="en-US" sz="1400" b="1" dirty="0">
                <a:solidFill>
                  <a:srgbClr val="1A1A1A"/>
                </a:solidFill>
                <a:latin typeface="Arial"/>
              </a:rPr>
              <a:t> and pain</a:t>
            </a:r>
            <a:endParaRPr sz="14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01767" y="2377440"/>
            <a:ext cx="29260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The numeric pain — costs, risks, technical debt.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4" y="1828800"/>
            <a:ext cx="3749039" cy="12801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74734" y="1828800"/>
            <a:ext cx="548640" cy="128016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66174" y="2103120"/>
            <a:ext cx="457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4" y="2011680"/>
            <a:ext cx="292607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dirty="0">
                <a:solidFill>
                  <a:srgbClr val="1A1A1A"/>
                </a:solidFill>
                <a:latin typeface="Arial"/>
              </a:rPr>
              <a:t>Generali future state with</a:t>
            </a:r>
            <a:r>
              <a:rPr sz="1400" b="1" dirty="0">
                <a:solidFill>
                  <a:srgbClr val="1A1A1A"/>
                </a:solidFill>
                <a:latin typeface="Arial"/>
              </a:rPr>
              <a:t> Devin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4" y="2377440"/>
            <a:ext cx="29260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The autonomous AI software engineer.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91840"/>
            <a:ext cx="3749039" cy="12801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291840"/>
            <a:ext cx="548640" cy="128016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566160"/>
            <a:ext cx="457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47472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How Devin helps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840480"/>
            <a:ext cx="29260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Multi-agent fan-out — live use case on a real repo.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85638" y="3291840"/>
            <a:ext cx="3749039" cy="12801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85638" y="3291840"/>
            <a:ext cx="548640" cy="128016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77078" y="3566160"/>
            <a:ext cx="457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Arial"/>
              </a:rPr>
              <a:t>5</a:t>
            </a:r>
            <a:endParaRPr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17158" y="347472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Public FSI reference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7158" y="3840480"/>
            <a:ext cx="29260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Goldman Sachs, Santander, Nubank — proof at scale.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74734" y="3291840"/>
            <a:ext cx="3749039" cy="12801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174734" y="3291840"/>
            <a:ext cx="548640" cy="128016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66174" y="3566160"/>
            <a:ext cx="457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Arial"/>
              </a:rPr>
              <a:t>6</a:t>
            </a:r>
            <a:endParaRPr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906254" y="347472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Roadmap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06254" y="3840480"/>
            <a:ext cx="29260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A phased, gated 12-month plan.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1821" y="4754880"/>
            <a:ext cx="3749039" cy="12801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61821" y="4754880"/>
            <a:ext cx="548640" cy="128016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3261" y="5029200"/>
            <a:ext cx="457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Arial"/>
              </a:rPr>
              <a:t>7</a:t>
            </a:r>
            <a:endParaRPr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93341" y="493776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Next steps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3341" y="5303520"/>
            <a:ext cx="292607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333333"/>
                </a:solidFill>
                <a:latin typeface="Arial"/>
              </a:rPr>
              <a:t>A </a:t>
            </a:r>
            <a:r>
              <a:rPr lang="en-US" sz="1100" b="0" dirty="0">
                <a:solidFill>
                  <a:srgbClr val="333333"/>
                </a:solidFill>
                <a:latin typeface="Arial"/>
              </a:rPr>
              <a:t>3</a:t>
            </a:r>
            <a:r>
              <a:rPr sz="1100" b="0" dirty="0">
                <a:solidFill>
                  <a:srgbClr val="333333"/>
                </a:solidFill>
                <a:latin typeface="Arial"/>
              </a:rPr>
              <a:t>0-day lighthouse engagement — the ask.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Arial"/>
              </a:rPr>
              <a:t>STRATEGIC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228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>
                <a:solidFill>
                  <a:srgbClr val="666666"/>
                </a:solidFill>
                <a:latin typeface="Arial"/>
              </a:rPr>
              <a:t>GENERALI × DEVIN</a:t>
            </a:r>
            <a:r>
              <a:rPr lang="en-GB" sz="900" b="1" dirty="0">
                <a:solidFill>
                  <a:srgbClr val="666666"/>
                </a:solidFill>
                <a:latin typeface="Arial"/>
              </a:rPr>
              <a:t>  |  INTERNAL DRAFT</a:t>
            </a:r>
            <a:endParaRPr sz="900" b="1" dirty="0">
              <a:solidFill>
                <a:srgbClr val="666666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dirty="0">
                <a:solidFill>
                  <a:srgbClr val="666666"/>
                </a:solidFill>
                <a:latin typeface="Arial"/>
              </a:rPr>
              <a:t>4</a:t>
            </a:r>
            <a:r>
              <a:rPr sz="900" b="0" dirty="0">
                <a:solidFill>
                  <a:srgbClr val="666666"/>
                </a:solidFill>
                <a:latin typeface="Arial"/>
              </a:rPr>
              <a:t>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92240"/>
            <a:ext cx="11430000" cy="6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" cy="30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89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A1A1A"/>
                </a:solidFill>
                <a:latin typeface="Arial"/>
              </a:rPr>
              <a:t>Generali Value Pyramid — Where Modernization 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9743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Arial"/>
              </a:rPr>
              <a:t>Vision → Mission → Strategic IT initiatives → Tech challenges. Modernization is how the top connects to the bottom.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35424" y="1737360"/>
            <a:ext cx="3108960" cy="100584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4024" y="184708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21284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To be the Lifetime Partner to our 71 M customers — shaping a safer, more sustainable future.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0984" y="2788920"/>
            <a:ext cx="5577840" cy="10058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9584" y="2898648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3264408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Deliver sustainable growth under Lifetime Partner 27: Driving Excellence (8–10% EPS CAGR · €7+ bn dividends · 2.5–3.0 p.p. cost/income improvement).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66544" y="3840480"/>
            <a:ext cx="8046720" cy="100584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95144" y="3950208"/>
            <a:ext cx="7589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STRATEGIC IT INITIATIVES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5144" y="4315968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“Insurance in a Box” (shared core, ~15 M policies) · Generali Core Tech (150 GenAI-enabled developers) · €1.2–1.3 bn AI &amp; tech investment (2025–27) · Data &amp; AI platform · DORA-ready resilience.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" y="4892040"/>
            <a:ext cx="10515600" cy="1005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0704" y="5001768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TECH CHALLENGES — THE MODERNIZATION AGENDA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53675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Arial"/>
              </a:rPr>
              <a:t>Legacy cores (Life / P&amp;C / Billing) · Multi-country fragmentation · Framework &amp; language upgrades (Java, .NET, COBOL) · Security/vuln backlog · Test coverage gaps · FinOps · DORA register &amp; ICT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17373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5281C"/>
                </a:solidFill>
                <a:latin typeface="Arial"/>
              </a:rPr>
              <a:t>LP27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172200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Sources — Generali, 'Lifetime Partner 27: Driving Excellence', 30 Jan 2025 · Generali Core Tech announcement, Feb 2026 · Generali 2024 Annual Integrated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51396-4866-66BC-0888-01715A7A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12D2BB-E2C5-E286-7B5D-1DB9D69F8517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63CBD6-0446-3C4D-E27A-D55308B16E67}"/>
              </a:ext>
            </a:extLst>
          </p:cNvPr>
          <p:cNvSpPr txBox="1"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Arial"/>
              </a:rPr>
              <a:t>STATUS QUO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1FC67B-447C-60B6-BE58-2538D90ABE5D}"/>
              </a:ext>
            </a:extLst>
          </p:cNvPr>
          <p:cNvSpPr txBox="1"/>
          <p:nvPr/>
        </p:nvSpPr>
        <p:spPr>
          <a:xfrm>
            <a:off x="8595360" y="228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GENERALI × DEVIN  |  INTERNAL DRAFT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AA748-1ACB-ABCA-D5F2-2635DB578680}"/>
              </a:ext>
            </a:extLst>
          </p:cNvPr>
          <p:cNvSpPr txBox="1"/>
          <p:nvPr/>
        </p:nvSpPr>
        <p:spPr>
          <a:xfrm>
            <a:off x="10972800" y="6537960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dirty="0">
                <a:solidFill>
                  <a:srgbClr val="666666"/>
                </a:solidFill>
                <a:latin typeface="Arial"/>
              </a:rPr>
              <a:t>5</a:t>
            </a:r>
            <a:r>
              <a:rPr sz="900" b="0" dirty="0">
                <a:solidFill>
                  <a:srgbClr val="666666"/>
                </a:solidFill>
                <a:latin typeface="Arial"/>
              </a:rPr>
              <a:t> /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28C327-2498-E133-7105-358F52732253}"/>
              </a:ext>
            </a:extLst>
          </p:cNvPr>
          <p:cNvSpPr/>
          <p:nvPr/>
        </p:nvSpPr>
        <p:spPr>
          <a:xfrm>
            <a:off x="365760" y="6191298"/>
            <a:ext cx="11430000" cy="6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A66580-CE19-97AB-49C1-E52E2F52E6E4}"/>
              </a:ext>
            </a:extLst>
          </p:cNvPr>
          <p:cNvSpPr/>
          <p:nvPr/>
        </p:nvSpPr>
        <p:spPr>
          <a:xfrm>
            <a:off x="365760" y="1143000"/>
            <a:ext cx="548640" cy="30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4A96C5-F663-9259-FDDD-4D55F8F29479}"/>
              </a:ext>
            </a:extLst>
          </p:cNvPr>
          <p:cNvSpPr txBox="1"/>
          <p:nvPr/>
        </p:nvSpPr>
        <p:spPr>
          <a:xfrm>
            <a:off x="365760" y="7489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A1A1A"/>
                </a:solidFill>
                <a:latin typeface="Arial"/>
              </a:rPr>
              <a:t>Status Quo — The Numeric Pain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B91583-D522-9D69-961A-1AE4F610C079}"/>
              </a:ext>
            </a:extLst>
          </p:cNvPr>
          <p:cNvSpPr txBox="1"/>
          <p:nvPr/>
        </p:nvSpPr>
        <p:spPr>
          <a:xfrm>
            <a:off x="365760" y="119743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The cost of legacy is real, measurable and growing.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F0E41F-95E3-4FE7-4C50-5F95A16DF31F}"/>
              </a:ext>
            </a:extLst>
          </p:cNvPr>
          <p:cNvSpPr/>
          <p:nvPr/>
        </p:nvSpPr>
        <p:spPr>
          <a:xfrm>
            <a:off x="365760" y="1527858"/>
            <a:ext cx="2807208" cy="465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446069-56EC-DAD4-8C93-6F6132D60710}"/>
              </a:ext>
            </a:extLst>
          </p:cNvPr>
          <p:cNvSpPr/>
          <p:nvPr/>
        </p:nvSpPr>
        <p:spPr>
          <a:xfrm>
            <a:off x="365760" y="1527858"/>
            <a:ext cx="91440" cy="465144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ED16B7-30BE-B55C-5F90-976B5788A1B5}"/>
              </a:ext>
            </a:extLst>
          </p:cNvPr>
          <p:cNvSpPr txBox="1"/>
          <p:nvPr/>
        </p:nvSpPr>
        <p:spPr>
          <a:xfrm>
            <a:off x="594360" y="1710738"/>
            <a:ext cx="253288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 dirty="0">
                <a:solidFill>
                  <a:srgbClr val="C5281C"/>
                </a:solidFill>
                <a:latin typeface="Arial"/>
              </a:rPr>
              <a:t> 2B – 4B</a:t>
            </a:r>
            <a:endParaRPr sz="2800" b="1" dirty="0">
              <a:solidFill>
                <a:srgbClr val="C5281C"/>
              </a:solidFill>
              <a:latin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54DF4C-F1B1-6589-7652-5F0FA1BF4597}"/>
              </a:ext>
            </a:extLst>
          </p:cNvPr>
          <p:cNvSpPr txBox="1"/>
          <p:nvPr/>
        </p:nvSpPr>
        <p:spPr>
          <a:xfrm>
            <a:off x="594360" y="2487978"/>
            <a:ext cx="2532888" cy="3747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333333"/>
                </a:solidFill>
                <a:latin typeface="Arial"/>
              </a:rPr>
              <a:t>Cost of the Tech debt</a:t>
            </a:r>
          </a:p>
          <a:p>
            <a:pPr algn="ctr"/>
            <a:r>
              <a:rPr lang="en-US" sz="1600" b="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algn="l"/>
            <a:r>
              <a:rPr lang="en-US" sz="1100" b="0" dirty="0">
                <a:solidFill>
                  <a:srgbClr val="333333"/>
                </a:solidFill>
                <a:latin typeface="Arial"/>
              </a:rPr>
              <a:t>In details:</a:t>
            </a:r>
          </a:p>
          <a:p>
            <a:pPr algn="l"/>
            <a:endParaRPr lang="en-US" sz="1100" dirty="0">
              <a:solidFill>
                <a:srgbClr val="333333"/>
              </a:solidFill>
              <a:latin typeface="Arial"/>
            </a:endParaRP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r>
              <a:rPr lang="en-US" sz="1100" dirty="0">
                <a:solidFill>
                  <a:srgbClr val="333333"/>
                </a:solidFill>
                <a:latin typeface="Arial"/>
              </a:rPr>
              <a:t>Core Insurance Systems (Mainframe/Legacy) — </a:t>
            </a:r>
            <a:r>
              <a:rPr lang="en-US" sz="1100" b="1" dirty="0">
                <a:solidFill>
                  <a:srgbClr val="333333"/>
                </a:solidFill>
                <a:latin typeface="Arial"/>
              </a:rPr>
              <a:t>€800M–1.5B</a:t>
            </a: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r>
              <a:rPr lang="fr-FR" sz="1100" dirty="0">
                <a:solidFill>
                  <a:srgbClr val="333333"/>
                </a:solidFill>
                <a:latin typeface="Arial"/>
              </a:rPr>
              <a:t>Application </a:t>
            </a:r>
            <a:r>
              <a:rPr lang="fr-FR" sz="1100" dirty="0" err="1">
                <a:solidFill>
                  <a:srgbClr val="333333"/>
                </a:solidFill>
                <a:latin typeface="Arial"/>
              </a:rPr>
              <a:t>Modernization</a:t>
            </a:r>
            <a:r>
              <a:rPr lang="fr-FR" sz="1100" dirty="0">
                <a:solidFill>
                  <a:srgbClr val="333333"/>
                </a:solidFill>
                <a:latin typeface="Arial"/>
              </a:rPr>
              <a:t> (Java/JEE/.NET) — </a:t>
            </a:r>
            <a:r>
              <a:rPr lang="fr-FR" sz="1100" b="1" dirty="0">
                <a:solidFill>
                  <a:srgbClr val="333333"/>
                </a:solidFill>
                <a:latin typeface="Arial"/>
              </a:rPr>
              <a:t>€300–600M</a:t>
            </a:r>
            <a:r>
              <a:rPr lang="en-FR" sz="1100" b="1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r>
              <a:rPr lang="fr-FR" sz="1100" dirty="0" err="1">
                <a:solidFill>
                  <a:srgbClr val="333333"/>
                </a:solidFill>
                <a:latin typeface="Arial"/>
              </a:rPr>
              <a:t>Infrastruttura</a:t>
            </a:r>
            <a:r>
              <a:rPr lang="fr-FR" sz="1100" dirty="0">
                <a:solidFill>
                  <a:srgbClr val="333333"/>
                </a:solidFill>
                <a:latin typeface="Arial"/>
              </a:rPr>
              <a:t> e Cloud Migration —</a:t>
            </a:r>
            <a:r>
              <a:rPr lang="fr-FR" sz="1100" b="1" dirty="0">
                <a:solidFill>
                  <a:srgbClr val="333333"/>
                </a:solidFill>
                <a:latin typeface="Arial"/>
              </a:rPr>
              <a:t>€400–800M</a:t>
            </a:r>
            <a:r>
              <a:rPr lang="en-FR" sz="1100" b="1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r>
              <a:rPr lang="en-US" sz="1100" dirty="0">
                <a:solidFill>
                  <a:srgbClr val="333333"/>
                </a:solidFill>
                <a:latin typeface="Arial"/>
              </a:rPr>
              <a:t>Data &amp; Integration Layer — </a:t>
            </a:r>
            <a:r>
              <a:rPr lang="en-US" sz="1100" b="1" dirty="0">
                <a:solidFill>
                  <a:srgbClr val="333333"/>
                </a:solidFill>
                <a:latin typeface="Arial"/>
              </a:rPr>
              <a:t>€200–400M</a:t>
            </a:r>
            <a:r>
              <a:rPr lang="en-FR" sz="1100" b="1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r>
              <a:rPr lang="en-US" sz="1100" dirty="0">
                <a:solidFill>
                  <a:srgbClr val="333333"/>
                </a:solidFill>
                <a:latin typeface="Arial"/>
              </a:rPr>
              <a:t>5. Security &amp; Compliance Debt — </a:t>
            </a:r>
            <a:r>
              <a:rPr lang="en-US" sz="1100" b="1" dirty="0">
                <a:solidFill>
                  <a:srgbClr val="333333"/>
                </a:solidFill>
                <a:latin typeface="Arial"/>
              </a:rPr>
              <a:t>€100–250M</a:t>
            </a:r>
            <a:r>
              <a:rPr lang="en-FR" sz="1100" b="1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r>
              <a:rPr lang="en-US" sz="1100" dirty="0">
                <a:solidFill>
                  <a:srgbClr val="333333"/>
                </a:solidFill>
                <a:latin typeface="Arial"/>
              </a:rPr>
              <a:t>Test &amp; Quality Debt — </a:t>
            </a:r>
            <a:r>
              <a:rPr lang="en-US" sz="1100" b="1" dirty="0">
                <a:solidFill>
                  <a:srgbClr val="333333"/>
                </a:solidFill>
                <a:latin typeface="Arial"/>
              </a:rPr>
              <a:t>€80–200M</a:t>
            </a: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r>
              <a:rPr lang="fr-FR" sz="1100" dirty="0">
                <a:solidFill>
                  <a:srgbClr val="333333"/>
                </a:solidFill>
                <a:latin typeface="Arial"/>
              </a:rPr>
              <a:t>Documentation &amp; Knowledge </a:t>
            </a:r>
            <a:r>
              <a:rPr lang="fr-FR" sz="1100" dirty="0" err="1">
                <a:solidFill>
                  <a:srgbClr val="333333"/>
                </a:solidFill>
                <a:latin typeface="Arial"/>
              </a:rPr>
              <a:t>Debt</a:t>
            </a:r>
            <a:r>
              <a:rPr lang="fr-FR" sz="1100" dirty="0">
                <a:solidFill>
                  <a:srgbClr val="333333"/>
                </a:solidFill>
                <a:latin typeface="Arial"/>
              </a:rPr>
              <a:t> — </a:t>
            </a:r>
            <a:r>
              <a:rPr lang="fr-FR" sz="1100" b="1" dirty="0">
                <a:solidFill>
                  <a:srgbClr val="333333"/>
                </a:solidFill>
                <a:latin typeface="Arial"/>
              </a:rPr>
              <a:t>€50–150M</a:t>
            </a:r>
            <a:r>
              <a:rPr lang="en-FR" sz="1100" dirty="0">
                <a:solidFill>
                  <a:srgbClr val="333333"/>
                </a:solidFill>
                <a:latin typeface="Arial"/>
              </a:rPr>
              <a:t>  </a:t>
            </a: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endParaRPr lang="en-FR" sz="105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C00000"/>
              </a:buClr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With IT budget of ~€2B per year, if 20–30% were allocated to reducing tech debt, it would take </a:t>
            </a: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5–10 years</a:t>
            </a:r>
            <a:endParaRPr sz="12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971027-30BD-F694-DBB8-8B1861480975}"/>
              </a:ext>
            </a:extLst>
          </p:cNvPr>
          <p:cNvSpPr/>
          <p:nvPr/>
        </p:nvSpPr>
        <p:spPr>
          <a:xfrm>
            <a:off x="3506898" y="1527858"/>
            <a:ext cx="2807208" cy="465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798155-EB94-C6D5-4061-76BA5B1A8DB2}"/>
              </a:ext>
            </a:extLst>
          </p:cNvPr>
          <p:cNvSpPr txBox="1"/>
          <p:nvPr/>
        </p:nvSpPr>
        <p:spPr>
          <a:xfrm>
            <a:off x="3735498" y="1710738"/>
            <a:ext cx="253288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 dirty="0">
                <a:solidFill>
                  <a:srgbClr val="C5281C"/>
                </a:solidFill>
                <a:latin typeface="Arial"/>
              </a:rPr>
              <a:t>200 – 300M</a:t>
            </a:r>
            <a:endParaRPr sz="2800" b="1" dirty="0">
              <a:solidFill>
                <a:srgbClr val="C5281C"/>
              </a:solidFill>
              <a:latin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A7F0C5-47DC-B5DA-AD16-A87329E69815}"/>
              </a:ext>
            </a:extLst>
          </p:cNvPr>
          <p:cNvSpPr/>
          <p:nvPr/>
        </p:nvSpPr>
        <p:spPr>
          <a:xfrm>
            <a:off x="9198864" y="2685328"/>
            <a:ext cx="2807208" cy="16459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E7324-A250-518E-E700-84B95D784549}"/>
              </a:ext>
            </a:extLst>
          </p:cNvPr>
          <p:cNvSpPr/>
          <p:nvPr/>
        </p:nvSpPr>
        <p:spPr>
          <a:xfrm>
            <a:off x="9198864" y="2685328"/>
            <a:ext cx="73152" cy="164592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13F59C-EC8F-94E0-F16C-C6DFDB0C9B3F}"/>
              </a:ext>
            </a:extLst>
          </p:cNvPr>
          <p:cNvSpPr txBox="1"/>
          <p:nvPr/>
        </p:nvSpPr>
        <p:spPr>
          <a:xfrm>
            <a:off x="9427464" y="2868208"/>
            <a:ext cx="253288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dirty="0">
                <a:solidFill>
                  <a:srgbClr val="C5281C"/>
                </a:solidFill>
                <a:latin typeface="Arial"/>
              </a:rPr>
              <a:t>220 – 430M</a:t>
            </a:r>
            <a:endParaRPr sz="2800" b="1" dirty="0">
              <a:solidFill>
                <a:srgbClr val="C5281C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25BACC-C8C1-1003-AFDC-399F0BF79D8F}"/>
              </a:ext>
            </a:extLst>
          </p:cNvPr>
          <p:cNvSpPr txBox="1"/>
          <p:nvPr/>
        </p:nvSpPr>
        <p:spPr>
          <a:xfrm>
            <a:off x="9427464" y="3645448"/>
            <a:ext cx="253288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Even just a </a:t>
            </a: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1%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improvement driven by </a:t>
            </a: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Devin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would translate into meaningful cost savings.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20CBA2-4B12-0083-657E-D4D292F7AB47}"/>
              </a:ext>
            </a:extLst>
          </p:cNvPr>
          <p:cNvSpPr/>
          <p:nvPr/>
        </p:nvSpPr>
        <p:spPr>
          <a:xfrm>
            <a:off x="3516003" y="1518213"/>
            <a:ext cx="91440" cy="465144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9E71BB-50DF-7C66-8E53-7773CA43227F}"/>
              </a:ext>
            </a:extLst>
          </p:cNvPr>
          <p:cNvSpPr txBox="1"/>
          <p:nvPr/>
        </p:nvSpPr>
        <p:spPr>
          <a:xfrm>
            <a:off x="3675155" y="2177391"/>
            <a:ext cx="2532888" cy="4031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333333"/>
                </a:solidFill>
                <a:latin typeface="Arial"/>
              </a:rPr>
              <a:t>Fix, debug and Maintenance costs</a:t>
            </a:r>
          </a:p>
          <a:p>
            <a:pPr algn="ctr"/>
            <a:r>
              <a:rPr lang="en-US" sz="1600" b="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algn="l"/>
            <a:r>
              <a:rPr lang="en-US" sz="1100" b="0" dirty="0">
                <a:solidFill>
                  <a:srgbClr val="333333"/>
                </a:solidFill>
                <a:latin typeface="Arial"/>
              </a:rPr>
              <a:t>In details:</a:t>
            </a:r>
          </a:p>
          <a:p>
            <a:pPr algn="l"/>
            <a:endParaRPr lang="en-US" sz="1100" dirty="0">
              <a:solidFill>
                <a:srgbClr val="333333"/>
              </a:solidFill>
              <a:latin typeface="Arial"/>
            </a:endParaRP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r>
              <a:rPr lang="en-GB" sz="1100" dirty="0">
                <a:solidFill>
                  <a:srgbClr val="333333"/>
                </a:solidFill>
                <a:latin typeface="Arial"/>
              </a:rPr>
              <a:t>Bug fixing </a:t>
            </a:r>
            <a:r>
              <a:rPr lang="en-GB" sz="1100" b="1" dirty="0">
                <a:solidFill>
                  <a:srgbClr val="333333"/>
                </a:solidFill>
                <a:latin typeface="Arial"/>
              </a:rPr>
              <a:t>€50–95M</a:t>
            </a: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r>
              <a:rPr lang="en-GB" sz="1100" dirty="0">
                <a:solidFill>
                  <a:srgbClr val="333333"/>
                </a:solidFill>
                <a:latin typeface="Arial"/>
              </a:rPr>
              <a:t>Debugging &amp; troubleshooting </a:t>
            </a:r>
            <a:r>
              <a:rPr lang="en-GB" sz="1100" b="1" dirty="0">
                <a:solidFill>
                  <a:srgbClr val="333333"/>
                </a:solidFill>
                <a:latin typeface="Arial"/>
              </a:rPr>
              <a:t>€40–75M</a:t>
            </a: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r>
              <a:rPr lang="en-GB" sz="1100" dirty="0">
                <a:solidFill>
                  <a:srgbClr val="333333"/>
                </a:solidFill>
                <a:latin typeface="Arial"/>
              </a:rPr>
              <a:t>Adaptive maintenance </a:t>
            </a:r>
            <a:r>
              <a:rPr lang="en-GB" sz="1100" b="1" dirty="0">
                <a:solidFill>
                  <a:srgbClr val="333333"/>
                </a:solidFill>
                <a:latin typeface="Arial"/>
              </a:rPr>
              <a:t>€40–75M</a:t>
            </a: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r>
              <a:rPr lang="en-GB" sz="1100" dirty="0">
                <a:solidFill>
                  <a:srgbClr val="333333"/>
                </a:solidFill>
                <a:latin typeface="Arial"/>
              </a:rPr>
              <a:t>Workarounds on legacy systems </a:t>
            </a:r>
            <a:r>
              <a:rPr lang="en-GB" sz="1100" b="1" dirty="0">
                <a:solidFill>
                  <a:srgbClr val="333333"/>
                </a:solidFill>
                <a:latin typeface="Arial"/>
              </a:rPr>
              <a:t>€30–55M</a:t>
            </a: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r>
              <a:rPr lang="en-GB" sz="1100" dirty="0">
                <a:solidFill>
                  <a:srgbClr val="333333"/>
                </a:solidFill>
                <a:latin typeface="Arial"/>
              </a:rPr>
              <a:t>Incident management &amp; hotfixes </a:t>
            </a:r>
            <a:r>
              <a:rPr lang="en-GB" sz="1100" b="1" dirty="0">
                <a:solidFill>
                  <a:srgbClr val="333333"/>
                </a:solidFill>
                <a:latin typeface="Arial"/>
              </a:rPr>
              <a:t>€20–40M</a:t>
            </a: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r>
              <a:rPr lang="en-GB" sz="1100" dirty="0">
                <a:solidFill>
                  <a:srgbClr val="333333"/>
                </a:solidFill>
                <a:latin typeface="Arial"/>
              </a:rPr>
              <a:t>Rework due to poor design </a:t>
            </a:r>
            <a:r>
              <a:rPr lang="en-GB" sz="1100" b="1" dirty="0">
                <a:solidFill>
                  <a:srgbClr val="333333"/>
                </a:solidFill>
                <a:latin typeface="Arial"/>
              </a:rPr>
              <a:t>€20–40M</a:t>
            </a: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endParaRPr lang="en-GB" sz="11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endParaRPr lang="en-GB" sz="11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endParaRPr lang="en-GB" sz="11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Clr>
                <a:srgbClr val="C00000"/>
              </a:buClr>
              <a:buFont typeface="+mj-lt"/>
              <a:buAutoNum type="arabicPeriod"/>
            </a:pPr>
            <a:endParaRPr lang="en-F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C00000"/>
              </a:buClr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If SW engineers were freed from these activities and focus on innovation, they could generate an additional </a:t>
            </a: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€80–120M in value.</a:t>
            </a:r>
            <a:endParaRPr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181DAD39-15B6-3BD1-A01C-B06D4DFD42DA}"/>
              </a:ext>
            </a:extLst>
          </p:cNvPr>
          <p:cNvSpPr/>
          <p:nvPr/>
        </p:nvSpPr>
        <p:spPr>
          <a:xfrm>
            <a:off x="6759615" y="3044142"/>
            <a:ext cx="1835745" cy="995422"/>
          </a:xfrm>
          <a:prstGeom prst="rightArrow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4E09FA-D682-5B48-8E4E-BD67A8380692}"/>
              </a:ext>
            </a:extLst>
          </p:cNvPr>
          <p:cNvSpPr txBox="1"/>
          <p:nvPr/>
        </p:nvSpPr>
        <p:spPr>
          <a:xfrm>
            <a:off x="365760" y="6563771"/>
            <a:ext cx="114300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66666"/>
                </a:solidFill>
                <a:latin typeface="Arial"/>
              </a:rPr>
              <a:t>Sources —</a:t>
            </a:r>
            <a:r>
              <a:rPr lang="en-US" sz="800" b="0" dirty="0">
                <a:solidFill>
                  <a:srgbClr val="666666"/>
                </a:solidFill>
                <a:latin typeface="Arial"/>
              </a:rPr>
              <a:t>Interviews with Daniel’s team, Gartner, McKinsey data. Industry peers data</a:t>
            </a:r>
            <a:endParaRPr sz="800" b="0" dirty="0">
              <a:solidFill>
                <a:srgbClr val="66666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7292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03D65-6344-154C-576E-454C78CE4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E652D1-341F-FDCF-8F3C-B82E7BA6499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5D8062-C2D0-5D3C-A85B-B75A84F8F9C3}"/>
              </a:ext>
            </a:extLst>
          </p:cNvPr>
          <p:cNvSpPr txBox="1"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Arial"/>
              </a:rPr>
              <a:t>WHO IS DEVIN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CDFEE-219C-BFD4-EAC3-42CD6DB238AA}"/>
              </a:ext>
            </a:extLst>
          </p:cNvPr>
          <p:cNvSpPr txBox="1"/>
          <p:nvPr/>
        </p:nvSpPr>
        <p:spPr>
          <a:xfrm>
            <a:off x="8595360" y="228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GENERALI × DEVIN  |  INTERNAL DRAFT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9B4BCB-BA6B-BBC0-0BFD-301BBFC09466}"/>
              </a:ext>
            </a:extLst>
          </p:cNvPr>
          <p:cNvSpPr txBox="1"/>
          <p:nvPr/>
        </p:nvSpPr>
        <p:spPr>
          <a:xfrm>
            <a:off x="10972800" y="6537960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dirty="0">
                <a:solidFill>
                  <a:srgbClr val="666666"/>
                </a:solidFill>
                <a:latin typeface="Arial"/>
              </a:rPr>
              <a:t>6</a:t>
            </a:r>
            <a:r>
              <a:rPr sz="900" b="0" dirty="0">
                <a:solidFill>
                  <a:srgbClr val="666666"/>
                </a:solidFill>
                <a:latin typeface="Arial"/>
              </a:rPr>
              <a:t> /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A33DE4-C2D4-9486-E65E-4A5E73602968}"/>
              </a:ext>
            </a:extLst>
          </p:cNvPr>
          <p:cNvSpPr/>
          <p:nvPr/>
        </p:nvSpPr>
        <p:spPr>
          <a:xfrm>
            <a:off x="365760" y="6492240"/>
            <a:ext cx="11430000" cy="6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F8C62A-E703-4E3D-280B-684CDE8F1B38}"/>
              </a:ext>
            </a:extLst>
          </p:cNvPr>
          <p:cNvSpPr/>
          <p:nvPr/>
        </p:nvSpPr>
        <p:spPr>
          <a:xfrm>
            <a:off x="365760" y="1143000"/>
            <a:ext cx="548640" cy="30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A0DA9E-CAA3-90C2-A716-632D3142816A}"/>
              </a:ext>
            </a:extLst>
          </p:cNvPr>
          <p:cNvSpPr txBox="1"/>
          <p:nvPr/>
        </p:nvSpPr>
        <p:spPr>
          <a:xfrm>
            <a:off x="365760" y="748940"/>
            <a:ext cx="114300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A1A1A"/>
                </a:solidFill>
                <a:latin typeface="Arial"/>
              </a:rPr>
              <a:t>Generali Future state with</a:t>
            </a:r>
            <a:r>
              <a:rPr sz="2600" b="1" dirty="0">
                <a:solidFill>
                  <a:srgbClr val="1A1A1A"/>
                </a:solidFill>
                <a:latin typeface="Arial"/>
              </a:rPr>
              <a:t> Devin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E86BA-8591-826A-EF9F-92F0C24C51A0}"/>
              </a:ext>
            </a:extLst>
          </p:cNvPr>
          <p:cNvSpPr txBox="1"/>
          <p:nvPr/>
        </p:nvSpPr>
        <p:spPr>
          <a:xfrm>
            <a:off x="365760" y="1197430"/>
            <a:ext cx="11430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Arial"/>
              </a:rPr>
              <a:t>The world's first autonomous AI software engineer — built by Cognition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0B3C0B-0DC3-AB48-6FD2-8FB4F5B15186}"/>
              </a:ext>
            </a:extLst>
          </p:cNvPr>
          <p:cNvSpPr txBox="1"/>
          <p:nvPr/>
        </p:nvSpPr>
        <p:spPr>
          <a:xfrm>
            <a:off x="365760" y="1828800"/>
            <a:ext cx="5669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C5281C"/>
                </a:solidFill>
                <a:latin typeface="Arial"/>
              </a:rPr>
              <a:t>What Devin 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F9501C-6676-6A17-8BFD-9B64BF7A73B1}"/>
              </a:ext>
            </a:extLst>
          </p:cNvPr>
          <p:cNvSpPr txBox="1"/>
          <p:nvPr/>
        </p:nvSpPr>
        <p:spPr>
          <a:xfrm>
            <a:off x="365760" y="2193400"/>
            <a:ext cx="56692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200" dirty="0">
                <a:solidFill>
                  <a:srgbClr val="1A1A1A"/>
                </a:solidFill>
                <a:latin typeface="Arial"/>
              </a:rPr>
              <a:t>An AI agent that takes a natural-language task and delivers a reviewable pull request — end-to-end.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200" dirty="0">
                <a:solidFill>
                  <a:srgbClr val="1A1A1A"/>
                </a:solidFill>
                <a:latin typeface="Arial"/>
              </a:rPr>
              <a:t>Owns its own cloud environment: shell, editor, browser, tests.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200" dirty="0">
                <a:solidFill>
                  <a:srgbClr val="1A1A1A"/>
                </a:solidFill>
                <a:latin typeface="Arial"/>
              </a:rPr>
              <a:t>Plans, writes code, debugs, runs CI, opens PR, iterates on reviewer feedback.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200" dirty="0">
                <a:solidFill>
                  <a:srgbClr val="1A1A1A"/>
                </a:solidFill>
                <a:latin typeface="Arial"/>
              </a:rPr>
              <a:t>Human-in-the-loop: approvals at every significant action; full audit trail.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200" dirty="0">
                <a:solidFill>
                  <a:srgbClr val="1A1A1A"/>
                </a:solidFill>
                <a:latin typeface="Arial"/>
              </a:rPr>
              <a:t>Enterprise-ready: SOC 2, zero-retention, VPC deployment, Windsurf IDE integration, on-prem via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Synechron</a:t>
            </a:r>
            <a:r>
              <a:rPr sz="1200" dirty="0">
                <a:solidFill>
                  <a:srgbClr val="1A1A1A"/>
                </a:solidFill>
                <a:latin typeface="Arial"/>
              </a:rPr>
              <a:t> / Cognizant partnerships.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B4DAE7-986A-2EDA-A3B0-2EE681245D74}"/>
              </a:ext>
            </a:extLst>
          </p:cNvPr>
          <p:cNvSpPr txBox="1"/>
          <p:nvPr/>
        </p:nvSpPr>
        <p:spPr>
          <a:xfrm>
            <a:off x="6400800" y="1828800"/>
            <a:ext cx="5394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dirty="0">
                <a:solidFill>
                  <a:srgbClr val="C5281C"/>
                </a:solidFill>
                <a:latin typeface="Arial"/>
              </a:rPr>
              <a:t>Generali future state</a:t>
            </a:r>
            <a:endParaRPr sz="1600" b="1" dirty="0">
              <a:solidFill>
                <a:srgbClr val="C5281C"/>
              </a:solidFill>
              <a:latin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855FC2-F2B8-0BBB-C7A1-A926B47709E8}"/>
              </a:ext>
            </a:extLst>
          </p:cNvPr>
          <p:cNvSpPr/>
          <p:nvPr/>
        </p:nvSpPr>
        <p:spPr>
          <a:xfrm>
            <a:off x="6400800" y="2286000"/>
            <a:ext cx="5394960" cy="37947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C37621-6A80-711E-8528-F204808CB9AA}"/>
              </a:ext>
            </a:extLst>
          </p:cNvPr>
          <p:cNvSpPr/>
          <p:nvPr/>
        </p:nvSpPr>
        <p:spPr>
          <a:xfrm>
            <a:off x="6400800" y="2285999"/>
            <a:ext cx="81023" cy="3794759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4EB4EE-3F7A-F9B4-C0F2-34CCE8D4C546}"/>
              </a:ext>
            </a:extLst>
          </p:cNvPr>
          <p:cNvSpPr txBox="1"/>
          <p:nvPr/>
        </p:nvSpPr>
        <p:spPr>
          <a:xfrm>
            <a:off x="365760" y="6172200"/>
            <a:ext cx="114300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66666"/>
                </a:solidFill>
                <a:latin typeface="Arial"/>
              </a:rPr>
              <a:t>Sources — Cognition, 'Devin's 2025 Performance Review', 14 Nov 2025 · Cognition × </a:t>
            </a:r>
            <a:r>
              <a:rPr sz="800" b="0" dirty="0" err="1">
                <a:solidFill>
                  <a:srgbClr val="666666"/>
                </a:solidFill>
                <a:latin typeface="Arial"/>
              </a:rPr>
              <a:t>Synechron</a:t>
            </a:r>
            <a:r>
              <a:rPr sz="800" b="0" dirty="0">
                <a:solidFill>
                  <a:srgbClr val="666666"/>
                </a:solidFill>
                <a:latin typeface="Arial"/>
              </a:rPr>
              <a:t> partnership press release, 20 Feb 2026 · Cognizant × Cognition partnership press release, 28 Jan 2026</a:t>
            </a:r>
            <a:r>
              <a:rPr lang="en-US" sz="800" b="0" dirty="0">
                <a:solidFill>
                  <a:srgbClr val="666666"/>
                </a:solidFill>
                <a:latin typeface="Arial"/>
              </a:rPr>
              <a:t>, Interviews with Daniel’s team</a:t>
            </a:r>
            <a:endParaRPr sz="800" b="0" dirty="0">
              <a:solidFill>
                <a:srgbClr val="666666"/>
              </a:solidFill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C3D7B1-39C3-8FF4-ED25-7A82CE82AD76}"/>
              </a:ext>
            </a:extLst>
          </p:cNvPr>
          <p:cNvSpPr txBox="1"/>
          <p:nvPr/>
        </p:nvSpPr>
        <p:spPr>
          <a:xfrm>
            <a:off x="367688" y="4087794"/>
            <a:ext cx="5669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rgbClr val="C5281C"/>
                </a:solidFill>
                <a:latin typeface="Arial"/>
              </a:rPr>
              <a:t>Some numbers</a:t>
            </a:r>
            <a:endParaRPr sz="1600" b="1" dirty="0">
              <a:solidFill>
                <a:srgbClr val="C5281C"/>
              </a:solidFill>
              <a:latin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2D03D5-1F5B-5267-58ED-00E0E5165FBC}"/>
              </a:ext>
            </a:extLst>
          </p:cNvPr>
          <p:cNvSpPr txBox="1"/>
          <p:nvPr/>
        </p:nvSpPr>
        <p:spPr>
          <a:xfrm>
            <a:off x="367687" y="4463971"/>
            <a:ext cx="5669280" cy="152349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lang="en-US" sz="1200" b="1" dirty="0">
                <a:solidFill>
                  <a:srgbClr val="C5281C"/>
                </a:solidFill>
                <a:latin typeface="Arial"/>
              </a:rPr>
              <a:t>100K+ </a:t>
            </a:r>
            <a:r>
              <a:rPr lang="en-GB" sz="1200" dirty="0">
                <a:solidFill>
                  <a:srgbClr val="333333"/>
                </a:solidFill>
                <a:latin typeface="Arial"/>
              </a:rPr>
              <a:t>Pull requests merged in real production codebases</a:t>
            </a:r>
          </a:p>
          <a:p>
            <a:r>
              <a:rPr lang="en-GB" sz="1200" dirty="0">
                <a:solidFill>
                  <a:srgbClr val="333333"/>
                </a:solidFill>
                <a:latin typeface="Arial"/>
              </a:rPr>
              <a:t>(Cognition 2025 performance review)</a:t>
            </a:r>
          </a:p>
          <a:p>
            <a:endParaRPr lang="en-GB" sz="1200" dirty="0">
              <a:solidFill>
                <a:srgbClr val="333333"/>
              </a:solidFill>
              <a:latin typeface="Arial"/>
            </a:endParaRPr>
          </a:p>
          <a:p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lang="en-US" sz="1200" b="1" dirty="0">
                <a:solidFill>
                  <a:srgbClr val="C5281C"/>
                </a:solidFill>
                <a:latin typeface="Arial"/>
              </a:rPr>
              <a:t>67% </a:t>
            </a:r>
            <a:r>
              <a:rPr lang="en-GB" sz="1200" dirty="0">
                <a:solidFill>
                  <a:srgbClr val="333333"/>
                </a:solidFill>
                <a:latin typeface="Arial"/>
              </a:rPr>
              <a:t>PR merge rate, up from 34% in 2024</a:t>
            </a:r>
          </a:p>
          <a:p>
            <a:endParaRPr lang="en-GB" sz="1200" dirty="0">
              <a:solidFill>
                <a:srgbClr val="333333"/>
              </a:solidFill>
              <a:latin typeface="Arial"/>
            </a:endParaRPr>
          </a:p>
          <a:p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lang="en-US" sz="1200" b="1" dirty="0">
                <a:solidFill>
                  <a:srgbClr val="C5281C"/>
                </a:solidFill>
                <a:latin typeface="Arial"/>
              </a:rPr>
              <a:t>4X </a:t>
            </a:r>
            <a:r>
              <a:rPr lang="en-GB" sz="1200" dirty="0">
                <a:solidFill>
                  <a:srgbClr val="333333"/>
                </a:solidFill>
                <a:latin typeface="Arial"/>
              </a:rPr>
              <a:t>Faster problem-solving year-over-year;</a:t>
            </a:r>
          </a:p>
          <a:p>
            <a:r>
              <a:rPr lang="en-GB" sz="1200" dirty="0">
                <a:solidFill>
                  <a:srgbClr val="333333"/>
                </a:solidFill>
                <a:latin typeface="Arial"/>
              </a:rPr>
              <a:t>2× more efficient in resource consumption</a:t>
            </a:r>
          </a:p>
          <a:p>
            <a:r>
              <a:rPr lang="en-GB" sz="1200" dirty="0">
                <a:solidFill>
                  <a:srgbClr val="333333"/>
                </a:solidFill>
                <a:latin typeface="Arial"/>
              </a:rPr>
              <a:t>(Cognition 2025)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21B39BAA-396B-AD70-3394-8DB9F01D3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010414"/>
              </p:ext>
            </p:extLst>
          </p:nvPr>
        </p:nvGraphicFramePr>
        <p:xfrm>
          <a:off x="6481823" y="2279997"/>
          <a:ext cx="534249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830">
                  <a:extLst>
                    <a:ext uri="{9D8B030D-6E8A-4147-A177-3AD203B41FA5}">
                      <a16:colId xmlns:a16="http://schemas.microsoft.com/office/drawing/2014/main" val="2214168997"/>
                    </a:ext>
                  </a:extLst>
                </a:gridCol>
                <a:gridCol w="1780830">
                  <a:extLst>
                    <a:ext uri="{9D8B030D-6E8A-4147-A177-3AD203B41FA5}">
                      <a16:colId xmlns:a16="http://schemas.microsoft.com/office/drawing/2014/main" val="818528145"/>
                    </a:ext>
                  </a:extLst>
                </a:gridCol>
                <a:gridCol w="1780830">
                  <a:extLst>
                    <a:ext uri="{9D8B030D-6E8A-4147-A177-3AD203B41FA5}">
                      <a16:colId xmlns:a16="http://schemas.microsoft.com/office/drawing/2014/main" val="3020594529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endParaRPr lang="en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600" b="1" kern="1200" dirty="0">
                          <a:solidFill>
                            <a:srgbClr val="C5281C"/>
                          </a:solidFill>
                          <a:latin typeface="Arial"/>
                          <a:ea typeface="+mn-ea"/>
                          <a:cs typeface="+mn-cs"/>
                        </a:rPr>
                        <a:t>Current State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1" kern="1200" dirty="0">
                          <a:solidFill>
                            <a:srgbClr val="C5281C"/>
                          </a:solidFill>
                          <a:latin typeface="Arial"/>
                          <a:ea typeface="+mn-ea"/>
                          <a:cs typeface="+mn-cs"/>
                        </a:rPr>
                        <a:t>Future State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140726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r>
                        <a:rPr lang="en-FR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Tech debt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€2–4B </a:t>
                      </a:r>
                      <a:endParaRPr lang="en-FR" sz="1200" kern="1200" dirty="0">
                        <a:solidFill>
                          <a:srgbClr val="1A1A1A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€1–2B (in 3-5 years)</a:t>
                      </a:r>
                      <a:endParaRPr lang="en-FR" sz="1200" kern="1200" dirty="0">
                        <a:solidFill>
                          <a:srgbClr val="1A1A1A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362798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Fix/debug costs per year</a:t>
                      </a:r>
                      <a:endParaRPr lang="en-FR" sz="1200" kern="1200" dirty="0">
                        <a:solidFill>
                          <a:srgbClr val="1A1A1A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€200–300M</a:t>
                      </a:r>
                      <a:endParaRPr lang="en-FR" sz="1200" kern="1200" dirty="0">
                        <a:solidFill>
                          <a:srgbClr val="1A1A1A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€100–170M </a:t>
                      </a:r>
                      <a:endParaRPr lang="en-FR" sz="1200" kern="1200" dirty="0">
                        <a:solidFill>
                          <a:srgbClr val="1A1A1A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3255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% Engineer time doing maintenance</a:t>
                      </a:r>
                      <a:endParaRPr lang="en-FR" sz="1200" kern="1200" dirty="0">
                        <a:solidFill>
                          <a:srgbClr val="1A1A1A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55%</a:t>
                      </a:r>
                      <a:endParaRPr lang="en-FR" sz="1200" kern="1200" dirty="0">
                        <a:solidFill>
                          <a:srgbClr val="1A1A1A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30–35% </a:t>
                      </a:r>
                      <a:endParaRPr lang="en-FR" sz="1200" kern="1200" dirty="0">
                        <a:solidFill>
                          <a:srgbClr val="1A1A1A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882181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Ramp-up new engineers</a:t>
                      </a:r>
                      <a:endParaRPr lang="en-FR" sz="1200" kern="1200" dirty="0">
                        <a:solidFill>
                          <a:srgbClr val="1A1A1A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2–8 months</a:t>
                      </a:r>
                      <a:endParaRPr lang="en-FR" sz="1200" kern="1200" dirty="0">
                        <a:solidFill>
                          <a:srgbClr val="1A1A1A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1–4 months</a:t>
                      </a:r>
                      <a:endParaRPr lang="en-FR" sz="1200" kern="1200" dirty="0">
                        <a:solidFill>
                          <a:srgbClr val="1A1A1A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608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FTE doing maintenance</a:t>
                      </a:r>
                      <a:endParaRPr lang="en-FR" sz="1200" kern="1200" dirty="0">
                        <a:solidFill>
                          <a:srgbClr val="1A1A1A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2,750</a:t>
                      </a:r>
                      <a:endParaRPr lang="en-FR" sz="1200" kern="1200" dirty="0">
                        <a:solidFill>
                          <a:srgbClr val="1A1A1A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200" kern="1200" dirty="0">
                          <a:solidFill>
                            <a:srgbClr val="1A1A1A"/>
                          </a:solidFill>
                          <a:latin typeface="Arial"/>
                          <a:ea typeface="+mn-ea"/>
                          <a:cs typeface="+mn-cs"/>
                        </a:rPr>
                        <a:t>1,500 </a:t>
                      </a:r>
                      <a:endParaRPr lang="en-FR" sz="1200" kern="1200" dirty="0">
                        <a:solidFill>
                          <a:srgbClr val="1A1A1A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817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484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Arial"/>
              </a:rPr>
              <a:t>HOW DEVIN HELPS ·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228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GENERALI × DEVIN  | 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dirty="0">
                <a:solidFill>
                  <a:srgbClr val="666666"/>
                </a:solidFill>
                <a:latin typeface="Arial"/>
              </a:rPr>
              <a:t>7</a:t>
            </a:r>
            <a:r>
              <a:rPr sz="900" b="0" dirty="0">
                <a:solidFill>
                  <a:srgbClr val="666666"/>
                </a:solidFill>
                <a:latin typeface="Arial"/>
              </a:rPr>
              <a:t>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92240"/>
            <a:ext cx="11430000" cy="6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" cy="30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8940"/>
            <a:ext cx="114300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A1A1A"/>
                </a:solidFill>
                <a:latin typeface="Arial"/>
              </a:rPr>
              <a:t>Use Case: Upgrade of framework through multi AI agents</a:t>
            </a:r>
            <a:endParaRPr sz="26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19743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Arial"/>
              </a:rPr>
              <a:t>Live use case: Java 11 + Spring Boot 2.7 → Java 17 + Spring Boot 3 on </a:t>
            </a:r>
            <a:r>
              <a:rPr sz="1300" b="0" dirty="0" err="1">
                <a:solidFill>
                  <a:srgbClr val="666666"/>
                </a:solidFill>
                <a:latin typeface="Arial"/>
              </a:rPr>
              <a:t>github.com</a:t>
            </a:r>
            <a:r>
              <a:rPr sz="1300" b="0" dirty="0">
                <a:solidFill>
                  <a:srgbClr val="666666"/>
                </a:solidFill>
                <a:latin typeface="Arial"/>
              </a:rPr>
              <a:t>/fabpen87/old-but-gold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474720" cy="73152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92024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TECH LEAD · Devin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Plans · fans-out · fans-in · opens 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2606040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017520"/>
            <a:ext cx="2606040" cy="4572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2331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C5281C"/>
                </a:solidFill>
                <a:latin typeface="Arial"/>
              </a:rPr>
              <a:t>Devin child 1: </a:t>
            </a:r>
            <a:r>
              <a:rPr sz="1200" b="1" dirty="0">
                <a:solidFill>
                  <a:srgbClr val="C5281C"/>
                </a:solidFill>
                <a:latin typeface="Arial"/>
              </a:rPr>
              <a:t>pom-migrator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/>
              </a:rPr>
              <a:t>Bumps Spring Boot 3.2, Java 17,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Arial"/>
              </a:rPr>
              <a:t>Lombok, MapStruct; updates CI.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97940" y="2560320"/>
            <a:ext cx="16000" cy="4572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91840" y="3017520"/>
            <a:ext cx="2606040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3017520"/>
            <a:ext cx="2606040" cy="4572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3154680"/>
            <a:ext cx="2331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C5281C"/>
                </a:solidFill>
                <a:latin typeface="Arial"/>
              </a:rPr>
              <a:t>Devin child 2: </a:t>
            </a:r>
            <a:r>
              <a:rPr sz="1200" b="1" dirty="0" err="1">
                <a:solidFill>
                  <a:srgbClr val="C5281C"/>
                </a:solidFill>
                <a:latin typeface="Arial"/>
              </a:rPr>
              <a:t>jakarta</a:t>
            </a:r>
            <a:r>
              <a:rPr sz="1200" b="1" dirty="0">
                <a:solidFill>
                  <a:srgbClr val="C5281C"/>
                </a:solidFill>
                <a:latin typeface="Arial"/>
              </a:rPr>
              <a:t>-migrator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52044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/>
              </a:rPr>
              <a:t>Rewrites javax.* → jakarta.*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Arial"/>
              </a:rPr>
              <a:t>across all source files.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86860" y="2560320"/>
            <a:ext cx="16000" cy="4572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80760" y="3017520"/>
            <a:ext cx="2606040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80760" y="3017520"/>
            <a:ext cx="2606040" cy="4572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3154680"/>
            <a:ext cx="2331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C5281C"/>
                </a:solidFill>
                <a:latin typeface="Arial"/>
              </a:rPr>
              <a:t>Devin child 3: </a:t>
            </a:r>
            <a:r>
              <a:rPr sz="1200" b="1" dirty="0">
                <a:solidFill>
                  <a:srgbClr val="C5281C"/>
                </a:solidFill>
                <a:latin typeface="Arial"/>
              </a:rPr>
              <a:t>security-migrator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52044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/>
              </a:rPr>
              <a:t>Rewrites SecurityConfig to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Arial"/>
              </a:rPr>
              <a:t>Spring Security 6 lambda DSL.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75780" y="2560320"/>
            <a:ext cx="16000" cy="4572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869680" y="3017520"/>
            <a:ext cx="2606040" cy="1234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869680" y="3017520"/>
            <a:ext cx="2606040" cy="4572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06840" y="3154680"/>
            <a:ext cx="2331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C5281C"/>
                </a:solidFill>
                <a:latin typeface="Arial"/>
              </a:rPr>
              <a:t>Devin child 4: </a:t>
            </a:r>
            <a:r>
              <a:rPr sz="1200" b="1" dirty="0">
                <a:solidFill>
                  <a:srgbClr val="C5281C"/>
                </a:solidFill>
                <a:latin typeface="Arial"/>
              </a:rPr>
              <a:t>test-modernizer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52044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Arial"/>
              </a:rPr>
              <a:t>JUnit 4 → JUnit 5 Jupiter;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Arial"/>
              </a:rPr>
              <a:t>drops SpringRunner.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64700" y="2560320"/>
            <a:ext cx="16000" cy="4572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28800" y="4572000"/>
            <a:ext cx="8595360" cy="685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28800" y="466344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SINGLE REVIEWABLE PR  →  upgrade/java-17-spring-boot-3  →  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9560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CI green · Human approval gate · Full audit trail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532120"/>
            <a:ext cx="11475720" cy="777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5532120"/>
            <a:ext cx="109728" cy="77724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5623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5281C"/>
                </a:solidFill>
                <a:latin typeface="Arial"/>
              </a:rPr>
              <a:t>OUTCOME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52160"/>
            <a:ext cx="111556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333333"/>
                </a:solidFill>
                <a:latin typeface="Arial"/>
              </a:rPr>
              <a:t>Typical internal estimate: 2–3 months, 2 FTEs serial. With Devin multi-agent: done in </a:t>
            </a:r>
            <a:r>
              <a:rPr lang="en-US" sz="1100" b="0" dirty="0">
                <a:solidFill>
                  <a:srgbClr val="333333"/>
                </a:solidFill>
                <a:latin typeface="Arial"/>
              </a:rPr>
              <a:t>minutes</a:t>
            </a:r>
            <a:r>
              <a:rPr sz="1100" b="0" dirty="0">
                <a:solidFill>
                  <a:srgbClr val="333333"/>
                </a:solidFill>
                <a:latin typeface="Arial"/>
              </a:rPr>
              <a:t> of wall-clock time, one PR, CI green. Pattern reusable across every repo.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324600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66666"/>
                </a:solidFill>
                <a:latin typeface="Arial"/>
              </a:rPr>
              <a:t>Use case demonstrated live on fabpen87/old-but-gold. Pattern directly transferable to Generali Core Tech (Insurance in a Box) and to Java / .NET / COBOL modernization workstreams.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Arial"/>
              </a:rPr>
              <a:t>PUBLIC REFERENCE — FSI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228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GENERALI × DEVIN  | 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dirty="0">
                <a:solidFill>
                  <a:srgbClr val="666666"/>
                </a:solidFill>
                <a:latin typeface="Arial"/>
              </a:rPr>
              <a:t>9</a:t>
            </a:r>
            <a:r>
              <a:rPr sz="900" b="0" dirty="0">
                <a:solidFill>
                  <a:srgbClr val="666666"/>
                </a:solidFill>
                <a:latin typeface="Arial"/>
              </a:rPr>
              <a:t>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92240"/>
            <a:ext cx="11430000" cy="6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" cy="30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89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A1A1A"/>
                </a:solidFill>
                <a:latin typeface="Arial"/>
              </a:rPr>
              <a:t>Public Reference — Devin in Financial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9743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Devin is already in production at Goldman Sachs, Santander and Nubank.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374903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3749039" cy="6858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33832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Goldman Sachs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33832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Wall Street's first deep integration of an autonomous AI engineer.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3383279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5281C"/>
                </a:solidFill>
                <a:latin typeface="Arial"/>
              </a:rPr>
              <a:t>▸ </a:t>
            </a:r>
            <a:r>
              <a:rPr sz="1100">
                <a:solidFill>
                  <a:srgbClr val="1A1A1A"/>
                </a:solidFill>
                <a:latin typeface="Arial"/>
              </a:rPr>
              <a:t>10,000+ human software engineers to be augmented.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5281C"/>
                </a:solidFill>
                <a:latin typeface="Arial"/>
              </a:rPr>
              <a:t>▸ </a:t>
            </a:r>
            <a:r>
              <a:rPr sz="1100">
                <a:solidFill>
                  <a:srgbClr val="1A1A1A"/>
                </a:solidFill>
                <a:latin typeface="Arial"/>
              </a:rPr>
              <a:t>"Hundreds of Devins initially, scaling into thousands." — Marco Argenti, Goldman Sachs CIO.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5281C"/>
                </a:solidFill>
                <a:latin typeface="Arial"/>
              </a:rPr>
              <a:t>▸ </a:t>
            </a:r>
            <a:r>
              <a:rPr sz="1100">
                <a:solidFill>
                  <a:srgbClr val="1A1A1A"/>
                </a:solidFill>
                <a:latin typeface="Arial"/>
              </a:rPr>
              <a:t>Announced via CNBC / TechCrunch, Jul 2025; expanded 2026.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0680"/>
            <a:ext cx="33832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Source: TechCrunch, 11 Jul 2025 · CNBC, Mar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7" y="1828800"/>
            <a:ext cx="374903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70247" y="1828800"/>
            <a:ext cx="3749039" cy="6858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53127" y="1965960"/>
            <a:ext cx="33832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Nubank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2651760"/>
            <a:ext cx="33832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Core ETL monolith migration — one of the largest in Latin America FS.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3246120"/>
            <a:ext cx="3383279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5281C"/>
                </a:solidFill>
                <a:latin typeface="Arial"/>
              </a:rPr>
              <a:t>▸ </a:t>
            </a:r>
            <a:r>
              <a:rPr sz="1100">
                <a:solidFill>
                  <a:srgbClr val="1A1A1A"/>
                </a:solidFill>
                <a:latin typeface="Arial"/>
              </a:rPr>
              <a:t>110M+ customers served.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5281C"/>
                </a:solidFill>
                <a:latin typeface="Arial"/>
              </a:rPr>
              <a:t>▸ </a:t>
            </a:r>
            <a:r>
              <a:rPr sz="1100">
                <a:solidFill>
                  <a:srgbClr val="1A1A1A"/>
                </a:solidFill>
                <a:latin typeface="Arial"/>
              </a:rPr>
              <a:t>ETL refactor: 8-year-old, 6M+ lines of code monolith.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5281C"/>
                </a:solidFill>
                <a:latin typeface="Arial"/>
              </a:rPr>
              <a:t>▸ </a:t>
            </a:r>
            <a:r>
              <a:rPr sz="1100">
                <a:solidFill>
                  <a:srgbClr val="1A1A1A"/>
                </a:solidFill>
                <a:latin typeface="Arial"/>
              </a:rPr>
              <a:t>Devin delivered 8× engineering efficiency and 20× cost savings.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5281C"/>
                </a:solidFill>
                <a:latin typeface="Arial"/>
              </a:rPr>
              <a:t>▸ </a:t>
            </a:r>
            <a:r>
              <a:rPr sz="1100">
                <a:solidFill>
                  <a:srgbClr val="1A1A1A"/>
                </a:solidFill>
                <a:latin typeface="Arial"/>
              </a:rPr>
              <a:t>Internal estimate 1.5 yr → completed in 2 months (12× on engineering hours).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5440680"/>
            <a:ext cx="33832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666666"/>
                </a:solidFill>
                <a:latin typeface="Arial"/>
              </a:rPr>
              <a:t>Source: </a:t>
            </a:r>
            <a:r>
              <a:rPr sz="900" b="0" dirty="0" err="1">
                <a:solidFill>
                  <a:srgbClr val="666666"/>
                </a:solidFill>
                <a:latin typeface="Arial"/>
              </a:rPr>
              <a:t>devin.ai</a:t>
            </a:r>
            <a:r>
              <a:rPr sz="900" b="0" dirty="0">
                <a:solidFill>
                  <a:srgbClr val="666666"/>
                </a:solidFill>
                <a:latin typeface="Arial"/>
              </a:rPr>
              <a:t>/customers/</a:t>
            </a:r>
            <a:r>
              <a:rPr sz="900" b="0" dirty="0" err="1">
                <a:solidFill>
                  <a:srgbClr val="666666"/>
                </a:solidFill>
                <a:latin typeface="Arial"/>
              </a:rPr>
              <a:t>nubank</a:t>
            </a:r>
            <a:r>
              <a:rPr sz="900" b="0" dirty="0">
                <a:solidFill>
                  <a:srgbClr val="666666"/>
                </a:solidFill>
                <a:latin typeface="Arial"/>
              </a:rPr>
              <a:t> · Cognition LinkedIn, Dec 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4734" y="1828800"/>
            <a:ext cx="374903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74734" y="1828800"/>
            <a:ext cx="3749039" cy="6858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57614" y="1965960"/>
            <a:ext cx="33832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Santander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4" y="2651760"/>
            <a:ext cx="33832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A1A1A"/>
                </a:solidFill>
                <a:latin typeface="Arial"/>
              </a:rPr>
              <a:t>Named customer in Cognition's 2025 performance review alongside Goldman Sachs and </a:t>
            </a:r>
            <a:r>
              <a:rPr sz="1100" b="1" dirty="0" err="1">
                <a:solidFill>
                  <a:srgbClr val="1A1A1A"/>
                </a:solidFill>
                <a:latin typeface="Arial"/>
              </a:rPr>
              <a:t>Nubank</a:t>
            </a:r>
            <a:r>
              <a:rPr sz="1100" b="1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4" y="3246120"/>
            <a:ext cx="3383279" cy="110555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100" dirty="0">
                <a:solidFill>
                  <a:srgbClr val="1A1A1A"/>
                </a:solidFill>
                <a:latin typeface="Arial"/>
              </a:rPr>
              <a:t>One of Europe's largest banking groups.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100" dirty="0">
                <a:solidFill>
                  <a:srgbClr val="1A1A1A"/>
                </a:solidFill>
                <a:latin typeface="Arial"/>
              </a:rPr>
              <a:t>Participates in the Cognition enterprise customer cohort.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100" dirty="0">
                <a:solidFill>
                  <a:srgbClr val="1A1A1A"/>
                </a:solidFill>
                <a:latin typeface="Arial"/>
              </a:rPr>
              <a:t>Details </a:t>
            </a:r>
            <a:r>
              <a:rPr lang="en-US" sz="1100" dirty="0">
                <a:solidFill>
                  <a:srgbClr val="1A1A1A"/>
                </a:solidFill>
                <a:latin typeface="Arial"/>
              </a:rPr>
              <a:t>to be disclosed directly in a reference call with the customer</a:t>
            </a:r>
            <a:endParaRPr sz="110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57614" y="5440680"/>
            <a:ext cx="33832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666666"/>
                </a:solidFill>
                <a:latin typeface="Arial"/>
              </a:rPr>
              <a:t>Source: Cognition blog, Nov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Arial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228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GENERALI × DEVIN  | 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92240"/>
            <a:ext cx="11430000" cy="6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" cy="30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8940"/>
            <a:ext cx="114300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A1A1A"/>
                </a:solidFill>
                <a:latin typeface="Arial"/>
              </a:rPr>
              <a:t>Roadmap — A </a:t>
            </a:r>
            <a:r>
              <a:rPr lang="en-US" sz="2600" b="1" dirty="0">
                <a:solidFill>
                  <a:srgbClr val="1A1A1A"/>
                </a:solidFill>
                <a:latin typeface="Arial"/>
              </a:rPr>
              <a:t>12</a:t>
            </a:r>
            <a:r>
              <a:rPr sz="2600" b="1" dirty="0">
                <a:solidFill>
                  <a:srgbClr val="1A1A1A"/>
                </a:solidFill>
                <a:latin typeface="Arial"/>
              </a:rPr>
              <a:t>-Month, Gated 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9743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Arial"/>
              </a:rPr>
              <a:t>Three phases. Two gates. Zero big-bang risk.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194560" cy="105156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2011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  <a:latin typeface="Arial"/>
              </a:rPr>
              <a:t>Lighthouse (M0–M</a:t>
            </a:r>
            <a:r>
              <a:rPr lang="en-US" sz="1000" b="0" dirty="0">
                <a:solidFill>
                  <a:srgbClr val="FFFFFF"/>
                </a:solidFill>
                <a:latin typeface="Arial"/>
              </a:rPr>
              <a:t>1</a:t>
            </a:r>
            <a:r>
              <a:rPr sz="1000" b="0" dirty="0">
                <a:solidFill>
                  <a:srgbClr val="FFFFFF"/>
                </a:solidFill>
                <a:latin typeface="Arial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828800"/>
            <a:ext cx="9189720" cy="10515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40" y="1965960"/>
            <a:ext cx="89154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3</a:t>
            </a:r>
            <a:r>
              <a:rPr sz="1100" b="0" dirty="0">
                <a:solidFill>
                  <a:srgbClr val="333333"/>
                </a:solidFill>
                <a:latin typeface="Arial"/>
              </a:rPr>
              <a:t>0-day engagement on 2–3 hand-picked repos (e.g. Java / .NET framework upgrades, SonarQube backlog).</a:t>
            </a:r>
          </a:p>
          <a:p>
            <a:pPr algn="l"/>
            <a:r>
              <a:rPr sz="1100" b="0" dirty="0">
                <a:solidFill>
                  <a:srgbClr val="333333"/>
                </a:solidFill>
                <a:latin typeface="Arial"/>
              </a:rPr>
              <a:t>Devin deployed in VPC/SOC 2 config · Generali Core Tech shadows &amp; validates · Hard KPIs agreed up-front.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17520"/>
            <a:ext cx="2194560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20440"/>
            <a:ext cx="2011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  <a:latin typeface="Arial"/>
              </a:rPr>
              <a:t>Scale (M</a:t>
            </a:r>
            <a:r>
              <a:rPr lang="en-US" sz="1000" b="0" dirty="0">
                <a:solidFill>
                  <a:srgbClr val="FFFFFF"/>
                </a:solidFill>
                <a:latin typeface="Arial"/>
              </a:rPr>
              <a:t>2</a:t>
            </a:r>
            <a:r>
              <a:rPr sz="1000" b="0" dirty="0">
                <a:solidFill>
                  <a:srgbClr val="FFFFFF"/>
                </a:solidFill>
                <a:latin typeface="Arial"/>
              </a:rPr>
              <a:t>–M</a:t>
            </a:r>
            <a:r>
              <a:rPr lang="en-US" sz="1000" dirty="0">
                <a:solidFill>
                  <a:srgbClr val="FFFFFF"/>
                </a:solidFill>
                <a:latin typeface="Arial"/>
              </a:rPr>
              <a:t>6</a:t>
            </a:r>
            <a:r>
              <a:rPr sz="1000" b="0" dirty="0">
                <a:solidFill>
                  <a:srgbClr val="FFFFFF"/>
                </a:solidFill>
                <a:latin typeface="Arial"/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3017520"/>
            <a:ext cx="9189720" cy="10515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34640" y="3154680"/>
            <a:ext cx="8915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Expand to one Business Unit (e.g. Germany or Italy) or one product domain (e.g. Billing).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Multi-agent fan-out patterns codified as playbooks. Internal CoE stood up. Security / compliance review completed.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06240"/>
            <a:ext cx="2194560" cy="10515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2011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  <a:latin typeface="Arial"/>
              </a:rPr>
              <a:t>Group-wide (M</a:t>
            </a:r>
            <a:r>
              <a:rPr lang="en-US" sz="1000" b="0" dirty="0">
                <a:solidFill>
                  <a:srgbClr val="FFFFFF"/>
                </a:solidFill>
                <a:latin typeface="Arial"/>
              </a:rPr>
              <a:t>6</a:t>
            </a:r>
            <a:r>
              <a:rPr sz="1000" b="0" dirty="0">
                <a:solidFill>
                  <a:srgbClr val="FFFFFF"/>
                </a:solidFill>
                <a:latin typeface="Arial"/>
              </a:rPr>
              <a:t>–M12+)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4206240"/>
            <a:ext cx="9189720" cy="10515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34640" y="4343400"/>
            <a:ext cx="8915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Industrialise across Group IT and IIAB. Embedded into Generali Core Tech's delivery model.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Devin becomes the default for modernization, vulnerability remediation, test generation and brownfield features.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32120"/>
            <a:ext cx="11475720" cy="7315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5532120"/>
            <a:ext cx="109728" cy="73152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623560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5281C"/>
                </a:solidFill>
                <a:latin typeface="Arial"/>
              </a:rPr>
              <a:t>STAGE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52160"/>
            <a:ext cx="11109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  <a:latin typeface="Arial"/>
              </a:rPr>
              <a:t>Gate 1 @ M</a:t>
            </a:r>
            <a:r>
              <a:rPr lang="en-US" sz="1200" b="0" dirty="0">
                <a:solidFill>
                  <a:srgbClr val="FFFFFF"/>
                </a:solidFill>
                <a:latin typeface="Arial"/>
              </a:rPr>
              <a:t>1</a:t>
            </a:r>
            <a:r>
              <a:rPr sz="1200" b="0" dirty="0">
                <a:solidFill>
                  <a:srgbClr val="FFFFFF"/>
                </a:solidFill>
                <a:latin typeface="Arial"/>
              </a:rPr>
              <a:t> — Lighthouse KPIs met? Go / adjust / stop.   Gate 2 @ M</a:t>
            </a:r>
            <a:r>
              <a:rPr lang="en-US" sz="1200" b="0" dirty="0">
                <a:solidFill>
                  <a:srgbClr val="FFFFFF"/>
                </a:solidFill>
                <a:latin typeface="Arial"/>
              </a:rPr>
              <a:t>6</a:t>
            </a:r>
            <a:r>
              <a:rPr sz="1200" b="0" dirty="0">
                <a:solidFill>
                  <a:srgbClr val="FFFFFF"/>
                </a:solidFill>
                <a:latin typeface="Arial"/>
              </a:rPr>
              <a:t> — BU-scale KPIs met? </a:t>
            </a:r>
            <a:r>
              <a:rPr sz="1200" b="0" dirty="0" err="1">
                <a:solidFill>
                  <a:srgbClr val="FFFFFF"/>
                </a:solidFill>
                <a:latin typeface="Arial"/>
              </a:rPr>
              <a:t>Industrialise</a:t>
            </a:r>
            <a:r>
              <a:rPr sz="1200" b="0" dirty="0">
                <a:solidFill>
                  <a:srgbClr val="FFFFFF"/>
                </a:solidFill>
                <a:latin typeface="Arial"/>
              </a:rPr>
              <a:t> / adjust / contain.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228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GENERALI × DEVIN  | 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92240"/>
            <a:ext cx="11430000" cy="6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" cy="30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89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A1A1A"/>
                </a:solidFill>
                <a:latin typeface="Arial"/>
              </a:rPr>
              <a:t>Next Steps — The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97430"/>
            <a:ext cx="11430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Arial"/>
              </a:rPr>
              <a:t>Four concrete commitments, one </a:t>
            </a:r>
            <a:r>
              <a:rPr lang="en-US" sz="1300" b="0" dirty="0">
                <a:solidFill>
                  <a:srgbClr val="666666"/>
                </a:solidFill>
                <a:latin typeface="Arial"/>
              </a:rPr>
              <a:t>3</a:t>
            </a:r>
            <a:r>
              <a:rPr sz="1300" b="0" dirty="0">
                <a:solidFill>
                  <a:srgbClr val="666666"/>
                </a:solidFill>
                <a:latin typeface="Arial"/>
              </a:rPr>
              <a:t>0-day clock.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11475720" cy="9144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548640" cy="9144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1965960"/>
            <a:ext cx="10607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C5281C"/>
                </a:solidFill>
                <a:latin typeface="Arial"/>
              </a:rPr>
              <a:t>1.  Approve a </a:t>
            </a:r>
            <a:r>
              <a:rPr lang="en-US" sz="1400" b="1" dirty="0">
                <a:solidFill>
                  <a:srgbClr val="C5281C"/>
                </a:solidFill>
                <a:latin typeface="Arial"/>
              </a:rPr>
              <a:t>3</a:t>
            </a:r>
            <a:r>
              <a:rPr sz="1400" b="1" dirty="0">
                <a:solidFill>
                  <a:srgbClr val="C5281C"/>
                </a:solidFill>
                <a:latin typeface="Arial"/>
              </a:rPr>
              <a:t>0-day lighthouse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317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</a:rPr>
              <a:t>Scope: 2–3 Generali repos (Core Tech or Italy/Germany BU). Objective: deliver measurable modernization outcomes with Devin + Generali engineers.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11475720" cy="9144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880360"/>
            <a:ext cx="548640" cy="9144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0175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5281C"/>
                </a:solidFill>
                <a:latin typeface="Arial"/>
              </a:rPr>
              <a:t>2.  Appoint a joint sponsor pair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832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</a:rPr>
              <a:t>One ExCo sponsor (CIO / COO) + one Generali Core Tech leader. Weekly review cadence during the lighthouse.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11475720" cy="9144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548640" cy="9144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0690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5281C"/>
                </a:solidFill>
                <a:latin typeface="Arial"/>
              </a:rPr>
              <a:t>3.  Agree KPIs up-front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43484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</a:rPr>
              <a:t>Examples: PRs merged, vulnerabilities resolved / hour, framework upgrade wall-clock time, test coverage uplift, ACU / PR cost.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83480"/>
            <a:ext cx="11475720" cy="9144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983480"/>
            <a:ext cx="548640" cy="9144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512064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5281C"/>
                </a:solidFill>
                <a:latin typeface="Arial"/>
              </a:rPr>
              <a:t>4.  Security &amp; procurement fast-track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4864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</a:rPr>
              <a:t>Devin VPC / SOC 2 review kicked off in parallel with the lighthouse. Standard Generali ICT risk and DORA controls apply.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17920"/>
            <a:ext cx="11475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C5281C"/>
                </a:solidFill>
                <a:latin typeface="Arial"/>
              </a:rPr>
              <a:t>With your approval today, we </a:t>
            </a:r>
            <a:r>
              <a:rPr sz="1200" b="1" dirty="0" err="1">
                <a:solidFill>
                  <a:srgbClr val="C5281C"/>
                </a:solidFill>
                <a:latin typeface="Arial"/>
              </a:rPr>
              <a:t>mobilise</a:t>
            </a:r>
            <a:r>
              <a:rPr sz="1200" b="1" dirty="0">
                <a:solidFill>
                  <a:srgbClr val="C5281C"/>
                </a:solidFill>
                <a:latin typeface="Arial"/>
              </a:rPr>
              <a:t> in </a:t>
            </a:r>
            <a:r>
              <a:rPr lang="en-US" sz="1200" b="1" dirty="0">
                <a:solidFill>
                  <a:srgbClr val="C5281C"/>
                </a:solidFill>
                <a:latin typeface="Arial"/>
              </a:rPr>
              <a:t>4</a:t>
            </a:r>
            <a:r>
              <a:rPr sz="1200" b="1" dirty="0">
                <a:solidFill>
                  <a:srgbClr val="C5281C"/>
                </a:solidFill>
                <a:latin typeface="Arial"/>
              </a:rPr>
              <a:t> weeks and present Gate-1 outcomes at Generali's Q+1 </a:t>
            </a:r>
            <a:r>
              <a:rPr sz="1200" b="1" dirty="0" err="1">
                <a:solidFill>
                  <a:srgbClr val="C5281C"/>
                </a:solidFill>
                <a:latin typeface="Arial"/>
              </a:rPr>
              <a:t>ExCo</a:t>
            </a:r>
            <a:r>
              <a:rPr sz="1200" b="1" dirty="0">
                <a:solidFill>
                  <a:srgbClr val="C5281C"/>
                </a:solidFill>
                <a:latin typeface="Arial"/>
              </a:rPr>
              <a:t>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Questions, challenges, pushback — all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We'll leave you with the 90-day proposal and the KPI template.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10972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  <a:latin typeface="Arial"/>
              </a:rPr>
              <a:t>GENERALI × Devin by Cognition |  Internal Draft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Arial"/>
              </a:rPr>
              <a:t>STATUS QUO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228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GENERALI × DEVIN  | 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dirty="0">
                <a:solidFill>
                  <a:srgbClr val="666666"/>
                </a:solidFill>
                <a:latin typeface="Arial"/>
              </a:rPr>
              <a:t>5</a:t>
            </a:r>
            <a:r>
              <a:rPr sz="900" b="0" dirty="0">
                <a:solidFill>
                  <a:srgbClr val="666666"/>
                </a:solidFill>
                <a:latin typeface="Arial"/>
              </a:rPr>
              <a:t>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92240"/>
            <a:ext cx="11430000" cy="6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" cy="30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89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A1A1A"/>
                </a:solidFill>
                <a:latin typeface="Arial"/>
              </a:rPr>
              <a:t>Status Quo — The Numeric Pain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9743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The cost of legacy is real, measurable and growing.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807208" cy="16459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73152" cy="164592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011680"/>
            <a:ext cx="253288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FR" sz="2800" b="1" dirty="0">
                <a:solidFill>
                  <a:srgbClr val="C5281C"/>
                </a:solidFill>
                <a:latin typeface="Arial"/>
              </a:rPr>
              <a:t>~</a:t>
            </a:r>
            <a:r>
              <a:rPr lang="en-US" sz="2800" b="1" dirty="0">
                <a:solidFill>
                  <a:srgbClr val="C5281C"/>
                </a:solidFill>
                <a:latin typeface="Arial"/>
              </a:rPr>
              <a:t> 2B – 4B</a:t>
            </a:r>
            <a:endParaRPr sz="2800" b="1" dirty="0">
              <a:solidFill>
                <a:srgbClr val="C5281C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2532888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333333"/>
                </a:solidFill>
                <a:latin typeface="Arial"/>
              </a:rPr>
              <a:t>Cost of the Tech debt considering lack of productivity, no innovation, operational inefficiencies</a:t>
            </a:r>
            <a:endParaRPr sz="1100" b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10128" y="1828800"/>
            <a:ext cx="2807208" cy="16459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0128" y="1828800"/>
            <a:ext cx="73152" cy="164592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8728" y="2011680"/>
            <a:ext cx="253288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 dirty="0">
                <a:solidFill>
                  <a:srgbClr val="C5281C"/>
                </a:solidFill>
                <a:latin typeface="Arial"/>
              </a:rPr>
              <a:t>4</a:t>
            </a:r>
            <a:r>
              <a:rPr sz="2800" b="1" dirty="0">
                <a:solidFill>
                  <a:srgbClr val="C5281C"/>
                </a:solidFill>
                <a:latin typeface="Arial"/>
              </a:rPr>
              <a:t>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788920"/>
            <a:ext cx="2532888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SW Engineers’ time spent in fixing and debugging. This means a cost of 150M Eur.</a:t>
            </a:r>
            <a:endParaRPr sz="1100" b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54496" y="1828800"/>
            <a:ext cx="2807208" cy="16459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54496" y="1828800"/>
            <a:ext cx="73152" cy="164592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83096" y="2011680"/>
            <a:ext cx="253288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dirty="0">
                <a:solidFill>
                  <a:srgbClr val="C5281C"/>
                </a:solidFill>
                <a:latin typeface="Arial"/>
              </a:rPr>
              <a:t>3-5x</a:t>
            </a:r>
            <a:endParaRPr sz="2800" b="1" dirty="0">
              <a:solidFill>
                <a:srgbClr val="C5281C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83096" y="2788920"/>
            <a:ext cx="2532888" cy="3727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GB" sz="1100" dirty="0">
                <a:solidFill>
                  <a:srgbClr val="1A1A1A"/>
                </a:solidFill>
                <a:latin typeface="Arial"/>
              </a:rPr>
              <a:t>Time-to-market longer than digital-native peers on new product launch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98864" y="1828800"/>
            <a:ext cx="2807208" cy="16459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98864" y="1828800"/>
            <a:ext cx="73152" cy="164592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27464" y="2011680"/>
            <a:ext cx="253288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dirty="0">
                <a:solidFill>
                  <a:srgbClr val="C5281C"/>
                </a:solidFill>
                <a:latin typeface="Arial"/>
              </a:rPr>
              <a:t>6 months</a:t>
            </a:r>
            <a:endParaRPr sz="2800" b="1" dirty="0">
              <a:solidFill>
                <a:srgbClr val="C5281C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27464" y="2788920"/>
            <a:ext cx="253288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333333"/>
                </a:solidFill>
                <a:latin typeface="Arial"/>
              </a:rPr>
              <a:t>To upgrade a medium monolith with 4 FTEs working on it. </a:t>
            </a:r>
            <a:endParaRPr sz="1100" b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65760" y="3749039"/>
            <a:ext cx="5669280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3749039"/>
            <a:ext cx="109728" cy="237744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8404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5281C"/>
                </a:solidFill>
                <a:latin typeface="Arial"/>
              </a:rPr>
              <a:t>COST SIDE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60520"/>
            <a:ext cx="5303520" cy="120815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lang="en-GB" sz="1100" dirty="0">
                <a:solidFill>
                  <a:srgbClr val="333333"/>
                </a:solidFill>
                <a:latin typeface="Arial"/>
              </a:rPr>
              <a:t>60-80% of Insurer IT spend locked in ‘run the business’. (Gartner, 2024)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GB" sz="1100" dirty="0">
                <a:solidFill>
                  <a:srgbClr val="C5281C"/>
                </a:solidFill>
                <a:latin typeface="Arial"/>
              </a:rPr>
              <a:t>▸ </a:t>
            </a:r>
            <a:r>
              <a:rPr lang="en-GB" sz="1100" dirty="0">
                <a:solidFill>
                  <a:srgbClr val="1A1A1A"/>
                </a:solidFill>
                <a:latin typeface="Arial"/>
              </a:rPr>
              <a:t>1000+ application, 30% of </a:t>
            </a:r>
            <a:r>
              <a:rPr lang="en-GB" sz="1100" dirty="0" err="1">
                <a:solidFill>
                  <a:srgbClr val="1A1A1A"/>
                </a:solidFill>
                <a:latin typeface="Arial"/>
              </a:rPr>
              <a:t>Opex</a:t>
            </a:r>
            <a:r>
              <a:rPr lang="en-GB" sz="1100" dirty="0">
                <a:solidFill>
                  <a:srgbClr val="1A1A1A"/>
                </a:solidFill>
                <a:latin typeface="Arial"/>
              </a:rPr>
              <a:t> related to duplication and lack of integration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GB" sz="11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lang="en-GB" sz="1100" dirty="0">
                <a:solidFill>
                  <a:srgbClr val="1A1A1A"/>
                </a:solidFill>
                <a:latin typeface="Arial"/>
              </a:rPr>
              <a:t>Security vulnerability remediation: ~30 min/human dev/vuln (Cognition 2025).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endParaRPr lang="en-GB" sz="1100" dirty="0">
              <a:solidFill>
                <a:srgbClr val="333333"/>
              </a:solidFill>
              <a:latin typeface="Arial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endParaRPr sz="110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72200" y="3749039"/>
            <a:ext cx="5669280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2200" y="3749039"/>
            <a:ext cx="109728" cy="237744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38404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5281C"/>
                </a:solidFill>
                <a:latin typeface="Arial"/>
              </a:rPr>
              <a:t>RISK SIDE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7619" y="4160520"/>
            <a:ext cx="5518621" cy="110555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100" dirty="0">
                <a:solidFill>
                  <a:srgbClr val="1A1A1A"/>
                </a:solidFill>
                <a:latin typeface="Arial"/>
              </a:rPr>
              <a:t>DORA: fines up to 2% of global turnover; personal liability up to €1M (Deloitte, 2026).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100" dirty="0">
                <a:solidFill>
                  <a:srgbClr val="1A1A1A"/>
                </a:solidFill>
                <a:latin typeface="Arial"/>
              </a:rPr>
              <a:t>Critical knowledge loss: COBOL, Java 8 and AS400 specialists retiring; hiring pipeline dry.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100" dirty="0">
                <a:solidFill>
                  <a:srgbClr val="1A1A1A"/>
                </a:solidFill>
                <a:latin typeface="Arial"/>
              </a:rPr>
              <a:t>Compliance re-work: IFRS 17 and IVASS rules require constant change on core systems — legacy amplifies every change cost.</a:t>
            </a:r>
          </a:p>
        </p:txBody>
      </p:sp>
    </p:spTree>
    <p:extLst>
      <p:ext uri="{BB962C8B-B14F-4D97-AF65-F5344CB8AC3E}">
        <p14:creationId xmlns:p14="http://schemas.microsoft.com/office/powerpoint/2010/main" val="2095203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Arial"/>
              </a:rPr>
              <a:t>WHO IS DEVIN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228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GENERALI × DEVIN  | 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dirty="0">
                <a:solidFill>
                  <a:srgbClr val="666666"/>
                </a:solidFill>
                <a:latin typeface="Arial"/>
              </a:rPr>
              <a:t>6</a:t>
            </a:r>
            <a:r>
              <a:rPr sz="900" b="0" dirty="0">
                <a:solidFill>
                  <a:srgbClr val="666666"/>
                </a:solidFill>
                <a:latin typeface="Arial"/>
              </a:rPr>
              <a:t>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92240"/>
            <a:ext cx="11430000" cy="6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" cy="30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8940"/>
            <a:ext cx="114300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A1A1A"/>
                </a:solidFill>
                <a:latin typeface="Arial"/>
              </a:rPr>
              <a:t>Generali Future state with</a:t>
            </a:r>
            <a:r>
              <a:rPr sz="2600" b="1" dirty="0">
                <a:solidFill>
                  <a:srgbClr val="1A1A1A"/>
                </a:solidFill>
                <a:latin typeface="Arial"/>
              </a:rPr>
              <a:t> Devin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97430"/>
            <a:ext cx="11430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Arial"/>
              </a:rPr>
              <a:t>The world's first autonomous AI software engineer — built by 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669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C5281C"/>
                </a:solidFill>
                <a:latin typeface="Arial"/>
              </a:rPr>
              <a:t>What Devin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93400"/>
            <a:ext cx="56692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200" dirty="0">
                <a:solidFill>
                  <a:srgbClr val="1A1A1A"/>
                </a:solidFill>
                <a:latin typeface="Arial"/>
              </a:rPr>
              <a:t>An AI agent that takes a natural-language task and delivers a reviewable pull request — end-to-end.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200" dirty="0">
                <a:solidFill>
                  <a:srgbClr val="1A1A1A"/>
                </a:solidFill>
                <a:latin typeface="Arial"/>
              </a:rPr>
              <a:t>Owns its own cloud environment: shell, editor, browser, tests.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200" dirty="0">
                <a:solidFill>
                  <a:srgbClr val="1A1A1A"/>
                </a:solidFill>
                <a:latin typeface="Arial"/>
              </a:rPr>
              <a:t>Plans, writes code, debugs, runs CI, opens PR, iterates on reviewer feedback.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200" dirty="0">
                <a:solidFill>
                  <a:srgbClr val="1A1A1A"/>
                </a:solidFill>
                <a:latin typeface="Arial"/>
              </a:rPr>
              <a:t>Human-in-the-loop: approvals at every significant action; full audit trail.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sz="1200" dirty="0">
                <a:solidFill>
                  <a:srgbClr val="1A1A1A"/>
                </a:solidFill>
                <a:latin typeface="Arial"/>
              </a:rPr>
              <a:t>Enterprise-ready: SOC 2, zero-retention, VPC deployment, Windsurf IDE integration, on-prem via </a:t>
            </a:r>
            <a:r>
              <a:rPr sz="1200" dirty="0" err="1">
                <a:solidFill>
                  <a:srgbClr val="1A1A1A"/>
                </a:solidFill>
                <a:latin typeface="Arial"/>
              </a:rPr>
              <a:t>Synechron</a:t>
            </a:r>
            <a:r>
              <a:rPr sz="1200" dirty="0">
                <a:solidFill>
                  <a:srgbClr val="1A1A1A"/>
                </a:solidFill>
                <a:latin typeface="Arial"/>
              </a:rPr>
              <a:t> / Cognizant partnerships.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394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 dirty="0">
                <a:solidFill>
                  <a:srgbClr val="C5281C"/>
                </a:solidFill>
                <a:latin typeface="Arial"/>
              </a:rPr>
              <a:t>Generali future state</a:t>
            </a:r>
            <a:endParaRPr sz="1500" b="1" dirty="0">
              <a:solidFill>
                <a:srgbClr val="C5281C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0" y="2286000"/>
            <a:ext cx="5394960" cy="1143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91440" cy="1143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2450592"/>
            <a:ext cx="1463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C5281C"/>
                </a:solidFill>
                <a:latin typeface="Arial"/>
              </a:rPr>
              <a:t>3X</a:t>
            </a:r>
            <a:endParaRPr sz="2400" b="1" dirty="0">
              <a:solidFill>
                <a:srgbClr val="C5281C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83880" y="2468880"/>
            <a:ext cx="3520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0" dirty="0">
                <a:solidFill>
                  <a:srgbClr val="333333"/>
                </a:solidFill>
                <a:latin typeface="Arial"/>
              </a:rPr>
              <a:t>Faster migration  </a:t>
            </a:r>
            <a:r>
              <a:rPr lang="en-US" sz="1200" b="0" dirty="0">
                <a:solidFill>
                  <a:srgbClr val="333333"/>
                </a:solidFill>
                <a:latin typeface="Arial"/>
                <a:sym typeface="Wingdings" pitchFamily="2" charset="2"/>
              </a:rPr>
              <a:t> 45M Benefit</a:t>
            </a:r>
            <a:endParaRPr sz="1200" b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0" y="3520440"/>
            <a:ext cx="5394960" cy="1143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520440"/>
            <a:ext cx="91440" cy="1143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3685032"/>
            <a:ext cx="1463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C5281C"/>
                </a:solidFill>
                <a:latin typeface="Arial"/>
              </a:rPr>
              <a:t>6X</a:t>
            </a:r>
            <a:endParaRPr sz="2400" b="1" dirty="0">
              <a:solidFill>
                <a:srgbClr val="C5281C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83880" y="3703320"/>
            <a:ext cx="35204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0" dirty="0">
                <a:solidFill>
                  <a:srgbClr val="333333"/>
                </a:solidFill>
                <a:latin typeface="Arial"/>
              </a:rPr>
              <a:t>Productivity gain </a:t>
            </a:r>
            <a:r>
              <a:rPr lang="en-US" sz="1200" b="0" dirty="0">
                <a:solidFill>
                  <a:srgbClr val="333333"/>
                </a:solidFill>
                <a:latin typeface="Arial"/>
                <a:sym typeface="Wingdings" pitchFamily="2" charset="2"/>
              </a:rPr>
              <a:t> 80M Benefit</a:t>
            </a:r>
            <a:endParaRPr sz="1200" b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0" y="4754880"/>
            <a:ext cx="5394960" cy="1143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4754880"/>
            <a:ext cx="91440" cy="1143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4919472"/>
            <a:ext cx="1463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2400" b="1" dirty="0">
                <a:solidFill>
                  <a:srgbClr val="C5281C"/>
                </a:solidFill>
                <a:latin typeface="Arial"/>
              </a:rPr>
              <a:t>4 weeks</a:t>
            </a:r>
            <a:endParaRPr sz="2400" b="1" dirty="0">
              <a:solidFill>
                <a:srgbClr val="C5281C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183880" y="4937760"/>
            <a:ext cx="35204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0" dirty="0">
                <a:solidFill>
                  <a:srgbClr val="333333"/>
                </a:solidFill>
                <a:latin typeface="Arial"/>
              </a:rPr>
              <a:t>Ramp-up for new hire, accelerated by an easier and modern codebase</a:t>
            </a:r>
            <a:r>
              <a:rPr lang="en-US" sz="1200" dirty="0">
                <a:solidFill>
                  <a:srgbClr val="333333"/>
                </a:solidFill>
                <a:latin typeface="Arial"/>
                <a:sym typeface="Wingdings" pitchFamily="2" charset="2"/>
              </a:rPr>
              <a:t>  10M </a:t>
            </a:r>
            <a:r>
              <a:rPr lang="en-US" sz="1200" b="0" dirty="0">
                <a:solidFill>
                  <a:srgbClr val="333333"/>
                </a:solidFill>
                <a:latin typeface="Arial"/>
                <a:sym typeface="Wingdings" pitchFamily="2" charset="2"/>
              </a:rPr>
              <a:t>Benefit</a:t>
            </a:r>
            <a:endParaRPr sz="1200" b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5760" y="6172200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66666"/>
                </a:solidFill>
                <a:latin typeface="Arial"/>
              </a:rPr>
              <a:t>Sources — Cognition, 'Devin's 2025 Performance Review', 14 Nov 2025 · Cognition × </a:t>
            </a:r>
            <a:r>
              <a:rPr sz="800" b="0" dirty="0" err="1">
                <a:solidFill>
                  <a:srgbClr val="666666"/>
                </a:solidFill>
                <a:latin typeface="Arial"/>
              </a:rPr>
              <a:t>Synechron</a:t>
            </a:r>
            <a:r>
              <a:rPr sz="800" b="0" dirty="0">
                <a:solidFill>
                  <a:srgbClr val="666666"/>
                </a:solidFill>
                <a:latin typeface="Arial"/>
              </a:rPr>
              <a:t> partnership press release, 20 Feb 2026 · Cognizant × Cognition partnership press release, 28 Jan 2026.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A752A3-6B8F-8F5E-EAB7-171CF1D18DA1}"/>
              </a:ext>
            </a:extLst>
          </p:cNvPr>
          <p:cNvSpPr txBox="1"/>
          <p:nvPr/>
        </p:nvSpPr>
        <p:spPr>
          <a:xfrm>
            <a:off x="367688" y="4087794"/>
            <a:ext cx="56692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 dirty="0">
                <a:solidFill>
                  <a:srgbClr val="C5281C"/>
                </a:solidFill>
                <a:latin typeface="Arial"/>
              </a:rPr>
              <a:t>Some numbers</a:t>
            </a:r>
            <a:endParaRPr sz="1500" b="1" dirty="0">
              <a:solidFill>
                <a:srgbClr val="C5281C"/>
              </a:solidFill>
              <a:latin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2D3587-9276-7A34-9265-CAD68AB6149B}"/>
              </a:ext>
            </a:extLst>
          </p:cNvPr>
          <p:cNvSpPr txBox="1"/>
          <p:nvPr/>
        </p:nvSpPr>
        <p:spPr>
          <a:xfrm>
            <a:off x="367687" y="4463971"/>
            <a:ext cx="5669280" cy="152349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lang="en-US" sz="1200" b="1" dirty="0">
                <a:solidFill>
                  <a:srgbClr val="C5281C"/>
                </a:solidFill>
                <a:latin typeface="Arial"/>
              </a:rPr>
              <a:t>100K+ </a:t>
            </a:r>
            <a:r>
              <a:rPr lang="en-GB" sz="1200" dirty="0">
                <a:solidFill>
                  <a:srgbClr val="333333"/>
                </a:solidFill>
                <a:latin typeface="Arial"/>
              </a:rPr>
              <a:t>Pull requests merged in real production codebases</a:t>
            </a:r>
          </a:p>
          <a:p>
            <a:r>
              <a:rPr lang="en-GB" sz="1200" dirty="0">
                <a:solidFill>
                  <a:srgbClr val="333333"/>
                </a:solidFill>
                <a:latin typeface="Arial"/>
              </a:rPr>
              <a:t>(Cognition 2025 performance review)</a:t>
            </a:r>
          </a:p>
          <a:p>
            <a:endParaRPr lang="en-GB" sz="1200" dirty="0">
              <a:solidFill>
                <a:srgbClr val="333333"/>
              </a:solidFill>
              <a:latin typeface="Arial"/>
            </a:endParaRPr>
          </a:p>
          <a:p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lang="en-US" sz="1200" b="1" dirty="0">
                <a:solidFill>
                  <a:srgbClr val="C5281C"/>
                </a:solidFill>
                <a:latin typeface="Arial"/>
              </a:rPr>
              <a:t>67% </a:t>
            </a:r>
            <a:r>
              <a:rPr lang="en-GB" sz="1200" dirty="0">
                <a:solidFill>
                  <a:srgbClr val="333333"/>
                </a:solidFill>
                <a:latin typeface="Arial"/>
              </a:rPr>
              <a:t>PR merge rate, up from 34% in 2024</a:t>
            </a:r>
          </a:p>
          <a:p>
            <a:endParaRPr lang="en-GB" sz="1200" dirty="0">
              <a:solidFill>
                <a:srgbClr val="333333"/>
              </a:solidFill>
              <a:latin typeface="Arial"/>
            </a:endParaRPr>
          </a:p>
          <a:p>
            <a:r>
              <a:rPr sz="1200" b="1" dirty="0">
                <a:solidFill>
                  <a:srgbClr val="C5281C"/>
                </a:solidFill>
                <a:latin typeface="Arial"/>
              </a:rPr>
              <a:t>▸ </a:t>
            </a:r>
            <a:r>
              <a:rPr lang="en-US" sz="1200" b="1" dirty="0">
                <a:solidFill>
                  <a:srgbClr val="C5281C"/>
                </a:solidFill>
                <a:latin typeface="Arial"/>
              </a:rPr>
              <a:t>4X </a:t>
            </a:r>
            <a:r>
              <a:rPr lang="en-GB" sz="1200" dirty="0">
                <a:solidFill>
                  <a:srgbClr val="333333"/>
                </a:solidFill>
                <a:latin typeface="Arial"/>
              </a:rPr>
              <a:t>Faster problem-solving year-over-year;</a:t>
            </a:r>
          </a:p>
          <a:p>
            <a:r>
              <a:rPr lang="en-GB" sz="1200" dirty="0">
                <a:solidFill>
                  <a:srgbClr val="333333"/>
                </a:solidFill>
                <a:latin typeface="Arial"/>
              </a:rPr>
              <a:t>2× more efficient in resource consumption</a:t>
            </a:r>
          </a:p>
          <a:p>
            <a:r>
              <a:rPr lang="en-GB" sz="1200" dirty="0">
                <a:solidFill>
                  <a:srgbClr val="333333"/>
                </a:solidFill>
                <a:latin typeface="Arial"/>
              </a:rPr>
              <a:t>(Cognition 2025)</a:t>
            </a:r>
          </a:p>
        </p:txBody>
      </p:sp>
    </p:spTree>
    <p:extLst>
      <p:ext uri="{BB962C8B-B14F-4D97-AF65-F5344CB8AC3E}">
        <p14:creationId xmlns:p14="http://schemas.microsoft.com/office/powerpoint/2010/main" val="4038723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Arial"/>
              </a:rPr>
              <a:t>EXPECTED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228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GENERALI × DEVIN  | 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dirty="0">
                <a:solidFill>
                  <a:srgbClr val="666666"/>
                </a:solidFill>
                <a:latin typeface="Arial"/>
              </a:rPr>
              <a:t>8</a:t>
            </a:r>
            <a:r>
              <a:rPr sz="900" b="0" dirty="0">
                <a:solidFill>
                  <a:srgbClr val="666666"/>
                </a:solidFill>
                <a:latin typeface="Arial"/>
              </a:rPr>
              <a:t>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92240"/>
            <a:ext cx="11430000" cy="6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" cy="300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89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1A1A1A"/>
                </a:solidFill>
                <a:latin typeface="Arial"/>
              </a:rPr>
              <a:t>Expected Benefits — Quantified, Sourced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97430"/>
            <a:ext cx="11430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Arial"/>
              </a:rPr>
              <a:t>Five levers, each with </a:t>
            </a:r>
            <a:r>
              <a:rPr lang="en-US" sz="1300" b="0" dirty="0">
                <a:solidFill>
                  <a:srgbClr val="666666"/>
                </a:solidFill>
                <a:latin typeface="Arial"/>
              </a:rPr>
              <a:t>clear evidences</a:t>
            </a:r>
            <a:endParaRPr sz="1300" b="0" dirty="0">
              <a:solidFill>
                <a:srgbClr val="666666"/>
              </a:solidFill>
              <a:latin typeface="Arial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527120"/>
              </p:ext>
            </p:extLst>
          </p:nvPr>
        </p:nvGraphicFramePr>
        <p:xfrm>
          <a:off x="365760" y="1643744"/>
          <a:ext cx="11430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5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</a:rPr>
                        <a:t>Benefit lever</a:t>
                      </a:r>
                    </a:p>
                  </a:txBody>
                  <a:tcPr>
                    <a:solidFill>
                      <a:srgbClr val="C528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What Devin does</a:t>
                      </a:r>
                    </a:p>
                  </a:txBody>
                  <a:tcPr>
                    <a:solidFill>
                      <a:srgbClr val="C528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Evidence / expected range</a:t>
                      </a:r>
                    </a:p>
                  </a:txBody>
                  <a:tcPr>
                    <a:solidFill>
                      <a:srgbClr val="C528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Engineering productivity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Parallel specialist agents for modernization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4× faster problem-solving y/y;
2× resource 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Framework / language migrations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33333"/>
                          </a:solidFill>
                          <a:latin typeface="Arial"/>
                        </a:rPr>
                        <a:t>Fleet of Devins upgrades repos in parallel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33333"/>
                          </a:solidFill>
                          <a:latin typeface="Arial"/>
                        </a:rPr>
                        <a:t>10–14× faster than human engineers
(Oracle Java migration, ETL frameworks)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ETL / monolith refactor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Autonomous migration of legacy monolith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8× engineering time gain,
20× cost savings — 1.5 yr → 2 months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Security vulnerability remediation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Devin fixes vulns flagged by SonarQube / Veracode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1.5 min/vuln vs 30 min/human
(20× gain); 5–10% dev time reclaimed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Test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First-pass test generation across repos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Coverage rises from 50–60% → 80–90%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Time-to-market for new features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Brownfield feature dev alongside humans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33333"/>
                          </a:solidFill>
                          <a:latin typeface="Arial"/>
                        </a:rPr>
                        <a:t>~⅓ of all commits on Cognition's own webapp pushed by Devin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65760" y="5852160"/>
            <a:ext cx="11475720" cy="4572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5852160"/>
            <a:ext cx="109728" cy="457200"/>
          </a:xfrm>
          <a:prstGeom prst="rect">
            <a:avLst/>
          </a:prstGeom>
          <a:solidFill>
            <a:srgbClr val="C5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Composite expectation for Generali Core Tech at steady state: 30–50 % reduction in modernization &amp; maintenance engineering hours, with corresponding redeployment of capacity to LP27 growth initiatives.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346371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dirty="0">
                <a:solidFill>
                  <a:srgbClr val="666666"/>
                </a:solidFill>
                <a:latin typeface="Arial"/>
              </a:rPr>
              <a:t>Source — Cognition, 'Devin's 2025 Performance Review', 14 Nov 2025 · </a:t>
            </a:r>
            <a:r>
              <a:rPr sz="800" b="0" dirty="0" err="1">
                <a:solidFill>
                  <a:srgbClr val="666666"/>
                </a:solidFill>
                <a:latin typeface="Arial"/>
              </a:rPr>
              <a:t>devin.ai</a:t>
            </a:r>
            <a:r>
              <a:rPr sz="800" b="0" dirty="0">
                <a:solidFill>
                  <a:srgbClr val="666666"/>
                </a:solidFill>
                <a:latin typeface="Arial"/>
              </a:rPr>
              <a:t>/customers/</a:t>
            </a:r>
            <a:r>
              <a:rPr sz="800" b="0" dirty="0" err="1">
                <a:solidFill>
                  <a:srgbClr val="666666"/>
                </a:solidFill>
                <a:latin typeface="Arial"/>
              </a:rPr>
              <a:t>nubank</a:t>
            </a:r>
            <a:r>
              <a:rPr sz="800" b="0" dirty="0">
                <a:solidFill>
                  <a:srgbClr val="666666"/>
                </a:solidFill>
                <a:latin typeface="Arial"/>
              </a:rPr>
              <a:t> (2024). Composite estimate: assumption, insurance benchmark — to be validated on Generali workload in the lighthouse engagement.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2378</TotalTime>
  <Words>4984</Words>
  <Application>Microsoft Macintosh PowerPoint</Application>
  <PresentationFormat>Widescreen</PresentationFormat>
  <Paragraphs>394</Paragraphs>
  <Slides>14</Slides>
  <Notes>14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Fabio Pennacchio</cp:lastModifiedBy>
  <cp:revision>8</cp:revision>
  <dcterms:created xsi:type="dcterms:W3CDTF">2013-01-27T09:14:16Z</dcterms:created>
  <dcterms:modified xsi:type="dcterms:W3CDTF">2026-04-20T20:53:33Z</dcterms:modified>
  <cp:category/>
</cp:coreProperties>
</file>